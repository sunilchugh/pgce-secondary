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4"/>
  </p:sldMasterIdLst>
  <p:sldIdLst>
    <p:sldId id="385" r:id="rId5"/>
    <p:sldId id="404" r:id="rId6"/>
    <p:sldId id="334" r:id="rId7"/>
    <p:sldId id="382" r:id="rId8"/>
    <p:sldId id="403" r:id="rId9"/>
    <p:sldId id="423" r:id="rId10"/>
    <p:sldId id="402" r:id="rId11"/>
    <p:sldId id="424" r:id="rId12"/>
    <p:sldId id="442" r:id="rId13"/>
    <p:sldId id="440" r:id="rId14"/>
    <p:sldId id="405" r:id="rId15"/>
    <p:sldId id="410" r:id="rId16"/>
    <p:sldId id="441" r:id="rId17"/>
    <p:sldId id="408" r:id="rId18"/>
    <p:sldId id="391" r:id="rId19"/>
    <p:sldId id="436" r:id="rId20"/>
    <p:sldId id="428" r:id="rId21"/>
    <p:sldId id="430" r:id="rId22"/>
    <p:sldId id="406" r:id="rId23"/>
    <p:sldId id="426" r:id="rId24"/>
    <p:sldId id="427" r:id="rId25"/>
    <p:sldId id="432" r:id="rId26"/>
    <p:sldId id="433" r:id="rId27"/>
    <p:sldId id="389" r:id="rId28"/>
    <p:sldId id="416" r:id="rId29"/>
    <p:sldId id="397" r:id="rId30"/>
    <p:sldId id="417" r:id="rId31"/>
    <p:sldId id="415" r:id="rId32"/>
    <p:sldId id="399" r:id="rId33"/>
    <p:sldId id="381" r:id="rId34"/>
    <p:sldId id="40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F1CC7-1544-BAA1-D478-678DB37440D5}" v="77" dt="2026-01-07T12:39:05.5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71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 Upfield" userId="S::21865@stmarys.ac.uk::4b5e9c3a-8c4e-46f5-a30b-2b50fb59aecd" providerId="AD" clId="Web-{5F8F1CC7-1544-BAA1-D478-678DB37440D5}"/>
    <pc:docChg chg="delSld modSld">
      <pc:chgData name="Helen Upfield" userId="S::21865@stmarys.ac.uk::4b5e9c3a-8c4e-46f5-a30b-2b50fb59aecd" providerId="AD" clId="Web-{5F8F1CC7-1544-BAA1-D478-678DB37440D5}" dt="2026-01-07T12:39:10.975" v="60"/>
      <pc:docMkLst>
        <pc:docMk/>
      </pc:docMkLst>
      <pc:sldChg chg="modSp">
        <pc:chgData name="Helen Upfield" userId="S::21865@stmarys.ac.uk::4b5e9c3a-8c4e-46f5-a30b-2b50fb59aecd" providerId="AD" clId="Web-{5F8F1CC7-1544-BAA1-D478-678DB37440D5}" dt="2026-01-07T12:38:07.083" v="45" actId="14100"/>
        <pc:sldMkLst>
          <pc:docMk/>
          <pc:sldMk cId="2216114758" sldId="381"/>
        </pc:sldMkLst>
        <pc:spChg chg="mod">
          <ac:chgData name="Helen Upfield" userId="S::21865@stmarys.ac.uk::4b5e9c3a-8c4e-46f5-a30b-2b50fb59aecd" providerId="AD" clId="Web-{5F8F1CC7-1544-BAA1-D478-678DB37440D5}" dt="2026-01-07T12:38:07.083" v="45" actId="14100"/>
          <ac:spMkLst>
            <pc:docMk/>
            <pc:sldMk cId="2216114758" sldId="381"/>
            <ac:spMk id="3" creationId="{00000000-0000-0000-0000-000000000000}"/>
          </ac:spMkLst>
        </pc:spChg>
      </pc:sldChg>
      <pc:sldChg chg="addSp modSp">
        <pc:chgData name="Helen Upfield" userId="S::21865@stmarys.ac.uk::4b5e9c3a-8c4e-46f5-a30b-2b50fb59aecd" providerId="AD" clId="Web-{5F8F1CC7-1544-BAA1-D478-678DB37440D5}" dt="2026-01-07T12:35:59.735" v="40" actId="20577"/>
        <pc:sldMkLst>
          <pc:docMk/>
          <pc:sldMk cId="185054177" sldId="382"/>
        </pc:sldMkLst>
        <pc:spChg chg="mod">
          <ac:chgData name="Helen Upfield" userId="S::21865@stmarys.ac.uk::4b5e9c3a-8c4e-46f5-a30b-2b50fb59aecd" providerId="AD" clId="Web-{5F8F1CC7-1544-BAA1-D478-678DB37440D5}" dt="2026-01-07T12:33:53.072" v="15" actId="20577"/>
          <ac:spMkLst>
            <pc:docMk/>
            <pc:sldMk cId="185054177" sldId="382"/>
            <ac:spMk id="2" creationId="{92C3F643-8F9D-41DC-8403-BA91CBB66A17}"/>
          </ac:spMkLst>
        </pc:spChg>
        <pc:spChg chg="mod">
          <ac:chgData name="Helen Upfield" userId="S::21865@stmarys.ac.uk::4b5e9c3a-8c4e-46f5-a30b-2b50fb59aecd" providerId="AD" clId="Web-{5F8F1CC7-1544-BAA1-D478-678DB37440D5}" dt="2026-01-07T12:35:30.640" v="23" actId="20577"/>
          <ac:spMkLst>
            <pc:docMk/>
            <pc:sldMk cId="185054177" sldId="382"/>
            <ac:spMk id="3" creationId="{141EFBD6-0538-425C-BBA2-0048146A5236}"/>
          </ac:spMkLst>
        </pc:spChg>
        <pc:spChg chg="add mod">
          <ac:chgData name="Helen Upfield" userId="S::21865@stmarys.ac.uk::4b5e9c3a-8c4e-46f5-a30b-2b50fb59aecd" providerId="AD" clId="Web-{5F8F1CC7-1544-BAA1-D478-678DB37440D5}" dt="2026-01-07T12:35:59.735" v="40" actId="20577"/>
          <ac:spMkLst>
            <pc:docMk/>
            <pc:sldMk cId="185054177" sldId="382"/>
            <ac:spMk id="4" creationId="{B10E473A-DE1E-A126-5ABA-9F07A3F61714}"/>
          </ac:spMkLst>
        </pc:spChg>
      </pc:sldChg>
      <pc:sldChg chg="addSp modSp mod setBg">
        <pc:chgData name="Helen Upfield" userId="S::21865@stmarys.ac.uk::4b5e9c3a-8c4e-46f5-a30b-2b50fb59aecd" providerId="AD" clId="Web-{5F8F1CC7-1544-BAA1-D478-678DB37440D5}" dt="2026-01-07T12:39:10.975" v="60"/>
        <pc:sldMkLst>
          <pc:docMk/>
          <pc:sldMk cId="3221243929" sldId="385"/>
        </pc:sldMkLst>
        <pc:spChg chg="mod">
          <ac:chgData name="Helen Upfield" userId="S::21865@stmarys.ac.uk::4b5e9c3a-8c4e-46f5-a30b-2b50fb59aecd" providerId="AD" clId="Web-{5F8F1CC7-1544-BAA1-D478-678DB37440D5}" dt="2026-01-07T12:39:10.975" v="60"/>
          <ac:spMkLst>
            <pc:docMk/>
            <pc:sldMk cId="3221243929" sldId="385"/>
            <ac:spMk id="2" creationId="{7C5FE94D-C388-4343-9AC1-25DE22A4E703}"/>
          </ac:spMkLst>
        </pc:spChg>
        <pc:spChg chg="mod">
          <ac:chgData name="Helen Upfield" userId="S::21865@stmarys.ac.uk::4b5e9c3a-8c4e-46f5-a30b-2b50fb59aecd" providerId="AD" clId="Web-{5F8F1CC7-1544-BAA1-D478-678DB37440D5}" dt="2026-01-07T12:39:10.975" v="60"/>
          <ac:spMkLst>
            <pc:docMk/>
            <pc:sldMk cId="3221243929" sldId="385"/>
            <ac:spMk id="3" creationId="{E031C444-5543-4835-94BA-91DA99ED4C57}"/>
          </ac:spMkLst>
        </pc:spChg>
        <pc:spChg chg="add">
          <ac:chgData name="Helen Upfield" userId="S::21865@stmarys.ac.uk::4b5e9c3a-8c4e-46f5-a30b-2b50fb59aecd" providerId="AD" clId="Web-{5F8F1CC7-1544-BAA1-D478-678DB37440D5}" dt="2026-01-07T12:39:10.975" v="60"/>
          <ac:spMkLst>
            <pc:docMk/>
            <pc:sldMk cId="3221243929" sldId="385"/>
            <ac:spMk id="10" creationId="{FBDCECDC-EEE3-4128-AA5E-82A8C08796E8}"/>
          </ac:spMkLst>
        </pc:spChg>
        <pc:spChg chg="add">
          <ac:chgData name="Helen Upfield" userId="S::21865@stmarys.ac.uk::4b5e9c3a-8c4e-46f5-a30b-2b50fb59aecd" providerId="AD" clId="Web-{5F8F1CC7-1544-BAA1-D478-678DB37440D5}" dt="2026-01-07T12:39:10.975" v="60"/>
          <ac:spMkLst>
            <pc:docMk/>
            <pc:sldMk cId="3221243929" sldId="385"/>
            <ac:spMk id="12" creationId="{1F3985C0-E548-44D2-B30E-F3E42DADE133}"/>
          </ac:spMkLst>
        </pc:spChg>
        <pc:spChg chg="add">
          <ac:chgData name="Helen Upfield" userId="S::21865@stmarys.ac.uk::4b5e9c3a-8c4e-46f5-a30b-2b50fb59aecd" providerId="AD" clId="Web-{5F8F1CC7-1544-BAA1-D478-678DB37440D5}" dt="2026-01-07T12:39:10.975" v="60"/>
          <ac:spMkLst>
            <pc:docMk/>
            <pc:sldMk cId="3221243929" sldId="385"/>
            <ac:spMk id="14" creationId="{4260EDE0-989C-4E16-AF94-F652294D828E}"/>
          </ac:spMkLst>
        </pc:spChg>
        <pc:picChg chg="add">
          <ac:chgData name="Helen Upfield" userId="S::21865@stmarys.ac.uk::4b5e9c3a-8c4e-46f5-a30b-2b50fb59aecd" providerId="AD" clId="Web-{5F8F1CC7-1544-BAA1-D478-678DB37440D5}" dt="2026-01-07T12:39:05.569" v="59"/>
          <ac:picMkLst>
            <pc:docMk/>
            <pc:sldMk cId="3221243929" sldId="385"/>
            <ac:picMk id="5" creationId="{B62C2A37-F4DC-33EE-379C-E8456B8DC6FA}"/>
          </ac:picMkLst>
        </pc:picChg>
      </pc:sldChg>
      <pc:sldChg chg="modSp del">
        <pc:chgData name="Helen Upfield" userId="S::21865@stmarys.ac.uk::4b5e9c3a-8c4e-46f5-a30b-2b50fb59aecd" providerId="AD" clId="Web-{5F8F1CC7-1544-BAA1-D478-678DB37440D5}" dt="2026-01-07T12:37:37.129" v="42"/>
        <pc:sldMkLst>
          <pc:docMk/>
          <pc:sldMk cId="3805703041" sldId="420"/>
        </pc:sldMkLst>
        <pc:spChg chg="mod">
          <ac:chgData name="Helen Upfield" userId="S::21865@stmarys.ac.uk::4b5e9c3a-8c4e-46f5-a30b-2b50fb59aecd" providerId="AD" clId="Web-{5F8F1CC7-1544-BAA1-D478-678DB37440D5}" dt="2026-01-07T12:37:33.145" v="41" actId="20577"/>
          <ac:spMkLst>
            <pc:docMk/>
            <pc:sldMk cId="3805703041" sldId="420"/>
            <ac:spMk id="3" creationId="{B80C4B70-9F2A-4B3B-BD64-FD6B7FDDCCA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B63436-62F3-46C2-A8E9-DFDB9AE9C61B}" type="doc">
      <dgm:prSet loTypeId="urn:microsoft.com/office/officeart/2005/8/layout/cycle8" loCatId="cycle" qsTypeId="urn:microsoft.com/office/officeart/2005/8/quickstyle/simple1" qsCatId="simple" csTypeId="urn:microsoft.com/office/officeart/2005/8/colors/accent1_2" csCatId="accent1" phldr="1"/>
      <dgm:spPr/>
    </dgm:pt>
    <dgm:pt modelId="{94705A3A-4E5F-4101-A0C6-E57A3E5A93C1}">
      <dgm:prSet phldrT="[Text]"/>
      <dgm:spPr/>
      <dgm:t>
        <a:bodyPr/>
        <a:lstStyle/>
        <a:p>
          <a:r>
            <a:rPr lang="en-GB" dirty="0"/>
            <a:t>Reading</a:t>
          </a:r>
        </a:p>
      </dgm:t>
    </dgm:pt>
    <dgm:pt modelId="{7ED6EC76-9797-485C-A382-92F191A95A8F}" type="parTrans" cxnId="{EA88B5FC-93AE-4A4A-9F25-D1A48FDF7A3D}">
      <dgm:prSet/>
      <dgm:spPr/>
      <dgm:t>
        <a:bodyPr/>
        <a:lstStyle/>
        <a:p>
          <a:endParaRPr lang="en-GB"/>
        </a:p>
      </dgm:t>
    </dgm:pt>
    <dgm:pt modelId="{C11115E0-B599-4DEA-89BD-40E1C252A377}" type="sibTrans" cxnId="{EA88B5FC-93AE-4A4A-9F25-D1A48FDF7A3D}">
      <dgm:prSet/>
      <dgm:spPr/>
      <dgm:t>
        <a:bodyPr/>
        <a:lstStyle/>
        <a:p>
          <a:endParaRPr lang="en-GB"/>
        </a:p>
      </dgm:t>
    </dgm:pt>
    <dgm:pt modelId="{4BCB01DF-1378-44AD-8FA5-81E146EE2077}">
      <dgm:prSet phldrT="[Text]"/>
      <dgm:spPr/>
      <dgm:t>
        <a:bodyPr/>
        <a:lstStyle/>
        <a:p>
          <a:r>
            <a:rPr lang="en-GB" dirty="0"/>
            <a:t>Writing</a:t>
          </a:r>
        </a:p>
      </dgm:t>
    </dgm:pt>
    <dgm:pt modelId="{ACBD0413-BE2B-427D-BDFF-6CE7D600438D}" type="parTrans" cxnId="{6EA09C0D-B5D4-4B09-A748-9F8F4D76DB10}">
      <dgm:prSet/>
      <dgm:spPr/>
      <dgm:t>
        <a:bodyPr/>
        <a:lstStyle/>
        <a:p>
          <a:endParaRPr lang="en-GB"/>
        </a:p>
      </dgm:t>
    </dgm:pt>
    <dgm:pt modelId="{BFD6ABAF-6CF5-43FE-BE0B-F4F24A123997}" type="sibTrans" cxnId="{6EA09C0D-B5D4-4B09-A748-9F8F4D76DB10}">
      <dgm:prSet/>
      <dgm:spPr/>
      <dgm:t>
        <a:bodyPr/>
        <a:lstStyle/>
        <a:p>
          <a:endParaRPr lang="en-GB"/>
        </a:p>
      </dgm:t>
    </dgm:pt>
    <dgm:pt modelId="{4A6648EB-2D83-48C4-858B-60009C06B058}">
      <dgm:prSet phldrT="[Text]"/>
      <dgm:spPr/>
      <dgm:t>
        <a:bodyPr/>
        <a:lstStyle/>
        <a:p>
          <a:r>
            <a:rPr lang="en-GB" dirty="0"/>
            <a:t>Speaking and listening </a:t>
          </a:r>
        </a:p>
      </dgm:t>
    </dgm:pt>
    <dgm:pt modelId="{9AFDA644-A221-4EEF-BD59-0A5755492231}" type="parTrans" cxnId="{F5FCA552-E0B0-454F-A9B2-C71DDAC3FC01}">
      <dgm:prSet/>
      <dgm:spPr/>
      <dgm:t>
        <a:bodyPr/>
        <a:lstStyle/>
        <a:p>
          <a:endParaRPr lang="en-GB"/>
        </a:p>
      </dgm:t>
    </dgm:pt>
    <dgm:pt modelId="{121DD996-E7EB-48BC-9EF8-5764F466016C}" type="sibTrans" cxnId="{F5FCA552-E0B0-454F-A9B2-C71DDAC3FC01}">
      <dgm:prSet/>
      <dgm:spPr/>
      <dgm:t>
        <a:bodyPr/>
        <a:lstStyle/>
        <a:p>
          <a:endParaRPr lang="en-GB"/>
        </a:p>
      </dgm:t>
    </dgm:pt>
    <dgm:pt modelId="{83DA69F6-73BD-4A93-BC0B-2A2D55858296}" type="pres">
      <dgm:prSet presAssocID="{8CB63436-62F3-46C2-A8E9-DFDB9AE9C61B}" presName="compositeShape" presStyleCnt="0">
        <dgm:presLayoutVars>
          <dgm:chMax val="7"/>
          <dgm:dir/>
          <dgm:resizeHandles val="exact"/>
        </dgm:presLayoutVars>
      </dgm:prSet>
      <dgm:spPr/>
    </dgm:pt>
    <dgm:pt modelId="{1AAE1056-2415-4E8F-928D-8042CA34B22D}" type="pres">
      <dgm:prSet presAssocID="{8CB63436-62F3-46C2-A8E9-DFDB9AE9C61B}" presName="wedge1" presStyleLbl="node1" presStyleIdx="0" presStyleCnt="3"/>
      <dgm:spPr/>
    </dgm:pt>
    <dgm:pt modelId="{E6AC00DB-A8DA-4B1B-9588-4A1570ABB755}" type="pres">
      <dgm:prSet presAssocID="{8CB63436-62F3-46C2-A8E9-DFDB9AE9C61B}" presName="dummy1a" presStyleCnt="0"/>
      <dgm:spPr/>
    </dgm:pt>
    <dgm:pt modelId="{677AD247-7510-41C4-8917-B461397028C0}" type="pres">
      <dgm:prSet presAssocID="{8CB63436-62F3-46C2-A8E9-DFDB9AE9C61B}" presName="dummy1b" presStyleCnt="0"/>
      <dgm:spPr/>
    </dgm:pt>
    <dgm:pt modelId="{8603BF05-A474-4A22-801F-DDCE5259A039}" type="pres">
      <dgm:prSet presAssocID="{8CB63436-62F3-46C2-A8E9-DFDB9AE9C61B}" presName="wedge1Tx" presStyleLbl="node1" presStyleIdx="0" presStyleCnt="3">
        <dgm:presLayoutVars>
          <dgm:chMax val="0"/>
          <dgm:chPref val="0"/>
          <dgm:bulletEnabled val="1"/>
        </dgm:presLayoutVars>
      </dgm:prSet>
      <dgm:spPr/>
    </dgm:pt>
    <dgm:pt modelId="{F43A86F0-8E33-4B5B-A1E9-611FF1B93BB2}" type="pres">
      <dgm:prSet presAssocID="{8CB63436-62F3-46C2-A8E9-DFDB9AE9C61B}" presName="wedge2" presStyleLbl="node1" presStyleIdx="1" presStyleCnt="3"/>
      <dgm:spPr/>
    </dgm:pt>
    <dgm:pt modelId="{C5EAAE67-0D0D-401D-9410-B495ADD9495A}" type="pres">
      <dgm:prSet presAssocID="{8CB63436-62F3-46C2-A8E9-DFDB9AE9C61B}" presName="dummy2a" presStyleCnt="0"/>
      <dgm:spPr/>
    </dgm:pt>
    <dgm:pt modelId="{9D80FA21-8F51-4BAE-9698-A6AFF98A0E9E}" type="pres">
      <dgm:prSet presAssocID="{8CB63436-62F3-46C2-A8E9-DFDB9AE9C61B}" presName="dummy2b" presStyleCnt="0"/>
      <dgm:spPr/>
    </dgm:pt>
    <dgm:pt modelId="{3FAF7A2E-CAA1-4F4F-B8C8-EC814E11C2D2}" type="pres">
      <dgm:prSet presAssocID="{8CB63436-62F3-46C2-A8E9-DFDB9AE9C61B}" presName="wedge2Tx" presStyleLbl="node1" presStyleIdx="1" presStyleCnt="3">
        <dgm:presLayoutVars>
          <dgm:chMax val="0"/>
          <dgm:chPref val="0"/>
          <dgm:bulletEnabled val="1"/>
        </dgm:presLayoutVars>
      </dgm:prSet>
      <dgm:spPr/>
    </dgm:pt>
    <dgm:pt modelId="{1D2757A6-215A-4E44-8FE3-CEE0093AFD17}" type="pres">
      <dgm:prSet presAssocID="{8CB63436-62F3-46C2-A8E9-DFDB9AE9C61B}" presName="wedge3" presStyleLbl="node1" presStyleIdx="2" presStyleCnt="3"/>
      <dgm:spPr/>
    </dgm:pt>
    <dgm:pt modelId="{6643C18B-800E-4841-AFB2-1A9C0830B285}" type="pres">
      <dgm:prSet presAssocID="{8CB63436-62F3-46C2-A8E9-DFDB9AE9C61B}" presName="dummy3a" presStyleCnt="0"/>
      <dgm:spPr/>
    </dgm:pt>
    <dgm:pt modelId="{C6ED31EE-1A1F-45D2-B7E2-98FCF29ACECB}" type="pres">
      <dgm:prSet presAssocID="{8CB63436-62F3-46C2-A8E9-DFDB9AE9C61B}" presName="dummy3b" presStyleCnt="0"/>
      <dgm:spPr/>
    </dgm:pt>
    <dgm:pt modelId="{F52239AC-5C4E-4A19-82FC-AF35FB09FBE1}" type="pres">
      <dgm:prSet presAssocID="{8CB63436-62F3-46C2-A8E9-DFDB9AE9C61B}" presName="wedge3Tx" presStyleLbl="node1" presStyleIdx="2" presStyleCnt="3">
        <dgm:presLayoutVars>
          <dgm:chMax val="0"/>
          <dgm:chPref val="0"/>
          <dgm:bulletEnabled val="1"/>
        </dgm:presLayoutVars>
      </dgm:prSet>
      <dgm:spPr/>
    </dgm:pt>
    <dgm:pt modelId="{79878F69-9CD2-42EA-81A8-A1E7094ED057}" type="pres">
      <dgm:prSet presAssocID="{C11115E0-B599-4DEA-89BD-40E1C252A377}" presName="arrowWedge1" presStyleLbl="fgSibTrans2D1" presStyleIdx="0" presStyleCnt="3"/>
      <dgm:spPr/>
    </dgm:pt>
    <dgm:pt modelId="{E4AC223B-F238-4168-86F3-5EB092DECD2B}" type="pres">
      <dgm:prSet presAssocID="{BFD6ABAF-6CF5-43FE-BE0B-F4F24A123997}" presName="arrowWedge2" presStyleLbl="fgSibTrans2D1" presStyleIdx="1" presStyleCnt="3"/>
      <dgm:spPr/>
    </dgm:pt>
    <dgm:pt modelId="{D16F4196-3588-4DFA-B613-69F7DA8DC807}" type="pres">
      <dgm:prSet presAssocID="{121DD996-E7EB-48BC-9EF8-5764F466016C}" presName="arrowWedge3" presStyleLbl="fgSibTrans2D1" presStyleIdx="2" presStyleCnt="3"/>
      <dgm:spPr/>
    </dgm:pt>
  </dgm:ptLst>
  <dgm:cxnLst>
    <dgm:cxn modelId="{6EA09C0D-B5D4-4B09-A748-9F8F4D76DB10}" srcId="{8CB63436-62F3-46C2-A8E9-DFDB9AE9C61B}" destId="{4BCB01DF-1378-44AD-8FA5-81E146EE2077}" srcOrd="1" destOrd="0" parTransId="{ACBD0413-BE2B-427D-BDFF-6CE7D600438D}" sibTransId="{BFD6ABAF-6CF5-43FE-BE0B-F4F24A123997}"/>
    <dgm:cxn modelId="{697ED218-CB90-433B-A4A7-65CA1D26A24B}" type="presOf" srcId="{4BCB01DF-1378-44AD-8FA5-81E146EE2077}" destId="{3FAF7A2E-CAA1-4F4F-B8C8-EC814E11C2D2}" srcOrd="1" destOrd="0" presId="urn:microsoft.com/office/officeart/2005/8/layout/cycle8"/>
    <dgm:cxn modelId="{413D323E-D640-4E65-99B4-0ED367544E20}" type="presOf" srcId="{4A6648EB-2D83-48C4-858B-60009C06B058}" destId="{F52239AC-5C4E-4A19-82FC-AF35FB09FBE1}" srcOrd="1" destOrd="0" presId="urn:microsoft.com/office/officeart/2005/8/layout/cycle8"/>
    <dgm:cxn modelId="{89D31568-B0F1-43E6-8CA4-3A1D51F34DA2}" type="presOf" srcId="{4BCB01DF-1378-44AD-8FA5-81E146EE2077}" destId="{F43A86F0-8E33-4B5B-A1E9-611FF1B93BB2}" srcOrd="0" destOrd="0" presId="urn:microsoft.com/office/officeart/2005/8/layout/cycle8"/>
    <dgm:cxn modelId="{BD8EB348-27FC-42CA-BD8E-E16E6F83732E}" type="presOf" srcId="{4A6648EB-2D83-48C4-858B-60009C06B058}" destId="{1D2757A6-215A-4E44-8FE3-CEE0093AFD17}" srcOrd="0" destOrd="0" presId="urn:microsoft.com/office/officeart/2005/8/layout/cycle8"/>
    <dgm:cxn modelId="{F5FCA552-E0B0-454F-A9B2-C71DDAC3FC01}" srcId="{8CB63436-62F3-46C2-A8E9-DFDB9AE9C61B}" destId="{4A6648EB-2D83-48C4-858B-60009C06B058}" srcOrd="2" destOrd="0" parTransId="{9AFDA644-A221-4EEF-BD59-0A5755492231}" sibTransId="{121DD996-E7EB-48BC-9EF8-5764F466016C}"/>
    <dgm:cxn modelId="{2664F979-414E-4A3F-B395-79B2B5868A22}" type="presOf" srcId="{94705A3A-4E5F-4101-A0C6-E57A3E5A93C1}" destId="{8603BF05-A474-4A22-801F-DDCE5259A039}" srcOrd="1" destOrd="0" presId="urn:microsoft.com/office/officeart/2005/8/layout/cycle8"/>
    <dgm:cxn modelId="{F1B03197-8206-4B17-BFBD-4311C1DAA100}" type="presOf" srcId="{94705A3A-4E5F-4101-A0C6-E57A3E5A93C1}" destId="{1AAE1056-2415-4E8F-928D-8042CA34B22D}" srcOrd="0" destOrd="0" presId="urn:microsoft.com/office/officeart/2005/8/layout/cycle8"/>
    <dgm:cxn modelId="{89B405C5-4E19-4FBD-A0CF-35CC9ACAA886}" type="presOf" srcId="{8CB63436-62F3-46C2-A8E9-DFDB9AE9C61B}" destId="{83DA69F6-73BD-4A93-BC0B-2A2D55858296}" srcOrd="0" destOrd="0" presId="urn:microsoft.com/office/officeart/2005/8/layout/cycle8"/>
    <dgm:cxn modelId="{EA88B5FC-93AE-4A4A-9F25-D1A48FDF7A3D}" srcId="{8CB63436-62F3-46C2-A8E9-DFDB9AE9C61B}" destId="{94705A3A-4E5F-4101-A0C6-E57A3E5A93C1}" srcOrd="0" destOrd="0" parTransId="{7ED6EC76-9797-485C-A382-92F191A95A8F}" sibTransId="{C11115E0-B599-4DEA-89BD-40E1C252A377}"/>
    <dgm:cxn modelId="{5FB4C261-71E7-4FEC-94C1-B965B392205B}" type="presParOf" srcId="{83DA69F6-73BD-4A93-BC0B-2A2D55858296}" destId="{1AAE1056-2415-4E8F-928D-8042CA34B22D}" srcOrd="0" destOrd="0" presId="urn:microsoft.com/office/officeart/2005/8/layout/cycle8"/>
    <dgm:cxn modelId="{9DD7890A-DC9F-46B1-8BA7-BB601A73BA73}" type="presParOf" srcId="{83DA69F6-73BD-4A93-BC0B-2A2D55858296}" destId="{E6AC00DB-A8DA-4B1B-9588-4A1570ABB755}" srcOrd="1" destOrd="0" presId="urn:microsoft.com/office/officeart/2005/8/layout/cycle8"/>
    <dgm:cxn modelId="{FBBB595B-17F5-4DFD-A304-8084CFB2E5C0}" type="presParOf" srcId="{83DA69F6-73BD-4A93-BC0B-2A2D55858296}" destId="{677AD247-7510-41C4-8917-B461397028C0}" srcOrd="2" destOrd="0" presId="urn:microsoft.com/office/officeart/2005/8/layout/cycle8"/>
    <dgm:cxn modelId="{F726C4AC-5039-4593-9642-6EEDDB54F3C3}" type="presParOf" srcId="{83DA69F6-73BD-4A93-BC0B-2A2D55858296}" destId="{8603BF05-A474-4A22-801F-DDCE5259A039}" srcOrd="3" destOrd="0" presId="urn:microsoft.com/office/officeart/2005/8/layout/cycle8"/>
    <dgm:cxn modelId="{5AF5A16D-1304-41B4-94DA-F4C4C152192C}" type="presParOf" srcId="{83DA69F6-73BD-4A93-BC0B-2A2D55858296}" destId="{F43A86F0-8E33-4B5B-A1E9-611FF1B93BB2}" srcOrd="4" destOrd="0" presId="urn:microsoft.com/office/officeart/2005/8/layout/cycle8"/>
    <dgm:cxn modelId="{D4B2F92B-C542-4B27-8D67-DE7B9CB3DDB2}" type="presParOf" srcId="{83DA69F6-73BD-4A93-BC0B-2A2D55858296}" destId="{C5EAAE67-0D0D-401D-9410-B495ADD9495A}" srcOrd="5" destOrd="0" presId="urn:microsoft.com/office/officeart/2005/8/layout/cycle8"/>
    <dgm:cxn modelId="{898EFD00-C53B-4536-9317-A961CCB673C6}" type="presParOf" srcId="{83DA69F6-73BD-4A93-BC0B-2A2D55858296}" destId="{9D80FA21-8F51-4BAE-9698-A6AFF98A0E9E}" srcOrd="6" destOrd="0" presId="urn:microsoft.com/office/officeart/2005/8/layout/cycle8"/>
    <dgm:cxn modelId="{B389DAAE-F146-45D1-A58A-A90ABCA1B449}" type="presParOf" srcId="{83DA69F6-73BD-4A93-BC0B-2A2D55858296}" destId="{3FAF7A2E-CAA1-4F4F-B8C8-EC814E11C2D2}" srcOrd="7" destOrd="0" presId="urn:microsoft.com/office/officeart/2005/8/layout/cycle8"/>
    <dgm:cxn modelId="{A40AFF68-68C9-49F2-93D4-1A24F40A10F5}" type="presParOf" srcId="{83DA69F6-73BD-4A93-BC0B-2A2D55858296}" destId="{1D2757A6-215A-4E44-8FE3-CEE0093AFD17}" srcOrd="8" destOrd="0" presId="urn:microsoft.com/office/officeart/2005/8/layout/cycle8"/>
    <dgm:cxn modelId="{B3B40300-3C61-4BB3-A44C-06C510CE7D26}" type="presParOf" srcId="{83DA69F6-73BD-4A93-BC0B-2A2D55858296}" destId="{6643C18B-800E-4841-AFB2-1A9C0830B285}" srcOrd="9" destOrd="0" presId="urn:microsoft.com/office/officeart/2005/8/layout/cycle8"/>
    <dgm:cxn modelId="{598D7A29-5DD6-4C68-BB25-4F6D6893ADC4}" type="presParOf" srcId="{83DA69F6-73BD-4A93-BC0B-2A2D55858296}" destId="{C6ED31EE-1A1F-45D2-B7E2-98FCF29ACECB}" srcOrd="10" destOrd="0" presId="urn:microsoft.com/office/officeart/2005/8/layout/cycle8"/>
    <dgm:cxn modelId="{DAAF24E2-B1F3-4C1F-9BDB-56B578790548}" type="presParOf" srcId="{83DA69F6-73BD-4A93-BC0B-2A2D55858296}" destId="{F52239AC-5C4E-4A19-82FC-AF35FB09FBE1}" srcOrd="11" destOrd="0" presId="urn:microsoft.com/office/officeart/2005/8/layout/cycle8"/>
    <dgm:cxn modelId="{154066E7-63DE-44BF-8F56-9771EE145F12}" type="presParOf" srcId="{83DA69F6-73BD-4A93-BC0B-2A2D55858296}" destId="{79878F69-9CD2-42EA-81A8-A1E7094ED057}" srcOrd="12" destOrd="0" presId="urn:microsoft.com/office/officeart/2005/8/layout/cycle8"/>
    <dgm:cxn modelId="{60E08B23-986E-4BAB-B472-0BDC24AAD334}" type="presParOf" srcId="{83DA69F6-73BD-4A93-BC0B-2A2D55858296}" destId="{E4AC223B-F238-4168-86F3-5EB092DECD2B}" srcOrd="13" destOrd="0" presId="urn:microsoft.com/office/officeart/2005/8/layout/cycle8"/>
    <dgm:cxn modelId="{4929358C-05CB-4DD1-A7ED-D01571CBD03F}" type="presParOf" srcId="{83DA69F6-73BD-4A93-BC0B-2A2D55858296}" destId="{D16F4196-3588-4DFA-B613-69F7DA8DC807}"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E1056-2415-4E8F-928D-8042CA34B22D}">
      <dsp:nvSpPr>
        <dsp:cNvPr id="0" name=""/>
        <dsp:cNvSpPr/>
      </dsp:nvSpPr>
      <dsp:spPr>
        <a:xfrm>
          <a:off x="1881902" y="352213"/>
          <a:ext cx="4551680" cy="4551680"/>
        </a:xfrm>
        <a:prstGeom prst="pie">
          <a:avLst>
            <a:gd name="adj1" fmla="val 16200000"/>
            <a:gd name="adj2" fmla="val 18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GB" sz="3000" kern="1200" dirty="0"/>
            <a:t>Reading</a:t>
          </a:r>
        </a:p>
      </dsp:txBody>
      <dsp:txXfrm>
        <a:off x="4280746" y="1316736"/>
        <a:ext cx="1625600" cy="1354666"/>
      </dsp:txXfrm>
    </dsp:sp>
    <dsp:sp modelId="{F43A86F0-8E33-4B5B-A1E9-611FF1B93BB2}">
      <dsp:nvSpPr>
        <dsp:cNvPr id="0" name=""/>
        <dsp:cNvSpPr/>
      </dsp:nvSpPr>
      <dsp:spPr>
        <a:xfrm>
          <a:off x="1788159" y="514773"/>
          <a:ext cx="4551680" cy="4551680"/>
        </a:xfrm>
        <a:prstGeom prst="pie">
          <a:avLst>
            <a:gd name="adj1" fmla="val 1800000"/>
            <a:gd name="adj2" fmla="val 90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GB" sz="3000" kern="1200" dirty="0"/>
            <a:t>Writing</a:t>
          </a:r>
        </a:p>
      </dsp:txBody>
      <dsp:txXfrm>
        <a:off x="2871893" y="3467946"/>
        <a:ext cx="2438400" cy="1192106"/>
      </dsp:txXfrm>
    </dsp:sp>
    <dsp:sp modelId="{1D2757A6-215A-4E44-8FE3-CEE0093AFD17}">
      <dsp:nvSpPr>
        <dsp:cNvPr id="0" name=""/>
        <dsp:cNvSpPr/>
      </dsp:nvSpPr>
      <dsp:spPr>
        <a:xfrm>
          <a:off x="1694416" y="352213"/>
          <a:ext cx="4551680" cy="4551680"/>
        </a:xfrm>
        <a:prstGeom prst="pie">
          <a:avLst>
            <a:gd name="adj1" fmla="val 900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GB" sz="3000" kern="1200" dirty="0"/>
            <a:t>Speaking and listening </a:t>
          </a:r>
        </a:p>
      </dsp:txBody>
      <dsp:txXfrm>
        <a:off x="2221653" y="1316736"/>
        <a:ext cx="1625600" cy="1354666"/>
      </dsp:txXfrm>
    </dsp:sp>
    <dsp:sp modelId="{79878F69-9CD2-42EA-81A8-A1E7094ED057}">
      <dsp:nvSpPr>
        <dsp:cNvPr id="0" name=""/>
        <dsp:cNvSpPr/>
      </dsp:nvSpPr>
      <dsp:spPr>
        <a:xfrm>
          <a:off x="1600507" y="70442"/>
          <a:ext cx="5115221" cy="511522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4AC223B-F238-4168-86F3-5EB092DECD2B}">
      <dsp:nvSpPr>
        <dsp:cNvPr id="0" name=""/>
        <dsp:cNvSpPr/>
      </dsp:nvSpPr>
      <dsp:spPr>
        <a:xfrm>
          <a:off x="1506389" y="232714"/>
          <a:ext cx="5115221" cy="511522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6F4196-3588-4DFA-B613-69F7DA8DC807}">
      <dsp:nvSpPr>
        <dsp:cNvPr id="0" name=""/>
        <dsp:cNvSpPr/>
      </dsp:nvSpPr>
      <dsp:spPr>
        <a:xfrm>
          <a:off x="1412270" y="70442"/>
          <a:ext cx="5115221" cy="511522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B0FF0F-ECC6-4F0D-98D2-26FF23A0CC95}"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3E9F53-F7F9-46D1-8F1C-2180F30A7287}"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389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36803"/>
          </a:xfrm>
        </p:spPr>
        <p:txBody>
          <a:bodyPr/>
          <a:lstStyle/>
          <a:p>
            <a:r>
              <a:rPr lang="en-US" dirty="0"/>
              <a:t>Click to edit Master title style</a:t>
            </a:r>
          </a:p>
        </p:txBody>
      </p:sp>
      <p:sp>
        <p:nvSpPr>
          <p:cNvPr id="3" name="Content Placeholder 2"/>
          <p:cNvSpPr>
            <a:spLocks noGrp="1"/>
          </p:cNvSpPr>
          <p:nvPr>
            <p:ph idx="1"/>
          </p:nvPr>
        </p:nvSpPr>
        <p:spPr>
          <a:xfrm>
            <a:off x="1097280" y="1894114"/>
            <a:ext cx="10058400" cy="4216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B0FF0F-ECC6-4F0D-98D2-26FF23A0CC95}"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3948639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B0FF0F-ECC6-4F0D-98D2-26FF23A0CC95}"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3E9F53-F7F9-46D1-8F1C-2180F30A7287}"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4868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B0FF0F-ECC6-4F0D-98D2-26FF23A0CC95}" type="datetimeFigureOut">
              <a:rPr lang="en-GB" smtClean="0"/>
              <a:t>08/01/2026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1033658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B0FF0F-ECC6-4F0D-98D2-26FF23A0CC95}" type="datetimeFigureOut">
              <a:rPr lang="en-GB" smtClean="0"/>
              <a:t>08/01/2026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182970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B0FF0F-ECC6-4F0D-98D2-26FF23A0CC95}" type="datetimeFigureOut">
              <a:rPr lang="en-GB" smtClean="0"/>
              <a:t>08/01/2026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1264291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9B0FF0F-ECC6-4F0D-98D2-26FF23A0CC95}" type="datetimeFigureOut">
              <a:rPr lang="en-GB" smtClean="0"/>
              <a:t>08/01/2026</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3602798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9B0FF0F-ECC6-4F0D-98D2-26FF23A0CC95}" type="datetimeFigureOut">
              <a:rPr lang="en-GB" smtClean="0"/>
              <a:t>08/01/2026</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D3E9F53-F7F9-46D1-8F1C-2180F30A7287}" type="slidenum">
              <a:rPr lang="en-GB" smtClean="0"/>
              <a:t>‹#›</a:t>
            </a:fld>
            <a:endParaRPr lang="en-GB"/>
          </a:p>
        </p:txBody>
      </p:sp>
    </p:spTree>
    <p:extLst>
      <p:ext uri="{BB962C8B-B14F-4D97-AF65-F5344CB8AC3E}">
        <p14:creationId xmlns:p14="http://schemas.microsoft.com/office/powerpoint/2010/main" val="26768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B0FF0F-ECC6-4F0D-98D2-26FF23A0CC95}" type="datetimeFigureOut">
              <a:rPr lang="en-GB" smtClean="0"/>
              <a:t>08/01/2026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65864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B0FF0F-ECC6-4F0D-98D2-26FF23A0CC95}"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2348725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B0FF0F-ECC6-4F0D-98D2-26FF23A0CC95}"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3E9F53-F7F9-46D1-8F1C-2180F30A7287}" type="slidenum">
              <a:rPr lang="en-GB" smtClean="0"/>
              <a:t>‹#›</a:t>
            </a:fld>
            <a:endParaRPr lang="en-GB"/>
          </a:p>
        </p:txBody>
      </p:sp>
    </p:spTree>
    <p:extLst>
      <p:ext uri="{BB962C8B-B14F-4D97-AF65-F5344CB8AC3E}">
        <p14:creationId xmlns:p14="http://schemas.microsoft.com/office/powerpoint/2010/main" val="1564060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9B0FF0F-ECC6-4F0D-98D2-26FF23A0CC95}" type="datetimeFigureOut">
              <a:rPr lang="en-GB" smtClean="0"/>
              <a:t>08/01/2026</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D3E9F53-F7F9-46D1-8F1C-2180F30A7287}"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31463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080/03004279.2020.1824701" TargetMode="External"/><Relationship Id="rId2" Type="http://schemas.openxmlformats.org/officeDocument/2006/relationships/hyperlink" Target="https://doi.org/10.1257/pol.20160514" TargetMode="External"/><Relationship Id="rId1" Type="http://schemas.openxmlformats.org/officeDocument/2006/relationships/slideLayout" Target="../slideLayouts/slideLayout2.xml"/><Relationship Id="rId4" Type="http://schemas.openxmlformats.org/officeDocument/2006/relationships/hyperlink" Target="https://educationendowmentfoundation.org.uk/education-evidence/guidance-reports/literacy-ks3-ks4"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youtube.com/watch?v=FVp0fSh0FR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xpateducator.wordpress.com/2014/04/25/6-underground-discourse-markers-map/" TargetMode="External"/><Relationship Id="rId2" Type="http://schemas.openxmlformats.org/officeDocument/2006/relationships/hyperlink" Target="https://assets.publishing.service.gov.uk/government/uploads/system/uploads/attachment_data/file/1186732/The_reading_framework.pdf" TargetMode="External"/><Relationship Id="rId1" Type="http://schemas.openxmlformats.org/officeDocument/2006/relationships/slideLayout" Target="../slideLayouts/slideLayout7.xml"/><Relationship Id="rId4" Type="http://schemas.openxmlformats.org/officeDocument/2006/relationships/hyperlink" Target="https://educationendowmentfoundation.org.uk/education-evidence/guidance-reports/literacy-ks3-ks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5FE94D-C388-4343-9AC1-25DE22A4E703}"/>
              </a:ext>
            </a:extLst>
          </p:cNvPr>
          <p:cNvSpPr>
            <a:spLocks noGrp="1"/>
          </p:cNvSpPr>
          <p:nvPr>
            <p:ph type="ctrTitle"/>
          </p:nvPr>
        </p:nvSpPr>
        <p:spPr>
          <a:xfrm>
            <a:off x="1097280" y="758952"/>
            <a:ext cx="10058400" cy="3892168"/>
          </a:xfrm>
        </p:spPr>
        <p:txBody>
          <a:bodyPr>
            <a:normAutofit/>
          </a:bodyPr>
          <a:lstStyle/>
          <a:p>
            <a:r>
              <a:rPr lang="en-GB" dirty="0"/>
              <a:t>Literacy and closing the reading gap</a:t>
            </a:r>
          </a:p>
        </p:txBody>
      </p:sp>
      <p:sp>
        <p:nvSpPr>
          <p:cNvPr id="12" name="Rectangle 11">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E031C444-5543-4835-94BA-91DA99ED4C57}"/>
              </a:ext>
            </a:extLst>
          </p:cNvPr>
          <p:cNvSpPr>
            <a:spLocks noGrp="1"/>
          </p:cNvSpPr>
          <p:nvPr>
            <p:ph type="subTitle" idx="1"/>
          </p:nvPr>
        </p:nvSpPr>
        <p:spPr>
          <a:xfrm>
            <a:off x="1100051" y="5225240"/>
            <a:ext cx="10058400" cy="1143000"/>
          </a:xfrm>
        </p:spPr>
        <p:txBody>
          <a:bodyPr vert="horz" lIns="91440" tIns="45720" rIns="91440" bIns="45720" rtlCol="0">
            <a:normAutofit/>
          </a:bodyPr>
          <a:lstStyle/>
          <a:p>
            <a:endParaRPr lang="en-GB">
              <a:solidFill>
                <a:srgbClr val="FFFFFF"/>
              </a:solidFill>
            </a:endParaRPr>
          </a:p>
          <a:p>
            <a:endParaRPr lang="en-GB">
              <a:solidFill>
                <a:srgbClr val="FFFFFF"/>
              </a:solidFill>
              <a:ea typeface="Calibri Light"/>
              <a:cs typeface="Calibri Light"/>
            </a:endParaRPr>
          </a:p>
        </p:txBody>
      </p:sp>
      <p:pic>
        <p:nvPicPr>
          <p:cNvPr id="5" name="Picture 2" descr="Crest of St Mary's University, Twickenham">
            <a:extLst>
              <a:ext uri="{FF2B5EF4-FFF2-40B4-BE49-F238E27FC236}">
                <a16:creationId xmlns:a16="http://schemas.microsoft.com/office/drawing/2014/main" id="{B62C2A37-F4DC-33EE-379C-E8456B8DC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9429" y="89908"/>
            <a:ext cx="1810558" cy="907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243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DED5-8465-4874-AD2C-0B90F0BD955B}"/>
              </a:ext>
            </a:extLst>
          </p:cNvPr>
          <p:cNvSpPr>
            <a:spLocks noGrp="1"/>
          </p:cNvSpPr>
          <p:nvPr>
            <p:ph type="title"/>
          </p:nvPr>
        </p:nvSpPr>
        <p:spPr>
          <a:xfrm>
            <a:off x="1097280" y="286603"/>
            <a:ext cx="10058400" cy="1012110"/>
          </a:xfrm>
        </p:spPr>
        <p:txBody>
          <a:bodyPr/>
          <a:lstStyle/>
          <a:p>
            <a:r>
              <a:rPr lang="en-GB" dirty="0"/>
              <a:t>Session Objectives</a:t>
            </a:r>
          </a:p>
        </p:txBody>
      </p:sp>
      <p:sp>
        <p:nvSpPr>
          <p:cNvPr id="3" name="Content Placeholder 2">
            <a:extLst>
              <a:ext uri="{FF2B5EF4-FFF2-40B4-BE49-F238E27FC236}">
                <a16:creationId xmlns:a16="http://schemas.microsoft.com/office/drawing/2014/main" id="{D2926951-ACBA-47DB-9228-C6D348F4A8B2}"/>
              </a:ext>
            </a:extLst>
          </p:cNvPr>
          <p:cNvSpPr>
            <a:spLocks noGrp="1"/>
          </p:cNvSpPr>
          <p:nvPr>
            <p:ph idx="1"/>
          </p:nvPr>
        </p:nvSpPr>
        <p:spPr>
          <a:xfrm>
            <a:off x="665922" y="2088107"/>
            <a:ext cx="10860156" cy="4162568"/>
          </a:xfrm>
        </p:spPr>
        <p:txBody>
          <a:bodyPr>
            <a:noAutofit/>
          </a:bodyPr>
          <a:lstStyle/>
          <a:p>
            <a:pPr marL="534988" indent="-534988">
              <a:lnSpc>
                <a:spcPct val="120000"/>
              </a:lnSpc>
              <a:spcAft>
                <a:spcPts val="1200"/>
              </a:spcAft>
              <a:buFont typeface="+mj-lt"/>
              <a:buAutoNum type="arabicPeriod"/>
            </a:pPr>
            <a:r>
              <a:rPr lang="en-GB" sz="2600" dirty="0">
                <a:latin typeface="Calibri" panose="020F0502020204030204" pitchFamily="34" charset="0"/>
                <a:ea typeface="Calibri" panose="020F0502020204030204" pitchFamily="34" charset="0"/>
                <a:cs typeface="Times New Roman" panose="02020603050405020304" pitchFamily="18" charset="0"/>
              </a:rPr>
              <a:t>Look at the position of literacy within the curriculum as one of shared professional responsibility </a:t>
            </a:r>
          </a:p>
          <a:p>
            <a:pPr marL="534988" indent="-534988">
              <a:lnSpc>
                <a:spcPct val="120000"/>
              </a:lnSpc>
              <a:spcAft>
                <a:spcPts val="1200"/>
              </a:spcAft>
              <a:buFont typeface="+mj-lt"/>
              <a:buAutoNum type="arabicPeriod"/>
            </a:pPr>
            <a:r>
              <a:rPr lang="en-GB" sz="2600" dirty="0">
                <a:latin typeface="Calibri" panose="020F0502020204030204" pitchFamily="34" charset="0"/>
                <a:ea typeface="Calibri" panose="020F0502020204030204" pitchFamily="34" charset="0"/>
                <a:cs typeface="Times New Roman" panose="02020603050405020304" pitchFamily="18" charset="0"/>
              </a:rPr>
              <a:t>Critically discuss research into improving literacy outcomes and closing the reading gap </a:t>
            </a:r>
          </a:p>
          <a:p>
            <a:pPr marL="534988" indent="-534988">
              <a:lnSpc>
                <a:spcPct val="120000"/>
              </a:lnSpc>
              <a:spcAft>
                <a:spcPts val="1200"/>
              </a:spcAft>
              <a:buFont typeface="+mj-lt"/>
              <a:buAutoNum type="arabicPeriod"/>
            </a:pPr>
            <a:r>
              <a:rPr lang="en-GB" sz="2600" dirty="0">
                <a:latin typeface="Calibri" panose="020F0502020204030204" pitchFamily="34" charset="0"/>
                <a:ea typeface="Calibri" panose="020F0502020204030204" pitchFamily="34" charset="0"/>
                <a:cs typeface="Times New Roman" panose="02020603050405020304" pitchFamily="18" charset="0"/>
              </a:rPr>
              <a:t>Consider ways to address inequalities in literacy attainment within our subject disciplines </a:t>
            </a:r>
          </a:p>
          <a:p>
            <a:endParaRPr lang="en-GB" sz="2600" dirty="0"/>
          </a:p>
        </p:txBody>
      </p:sp>
      <p:pic>
        <p:nvPicPr>
          <p:cNvPr id="4" name="Picture 2" descr="Crest of St Mary's University, Twickenham">
            <a:extLst>
              <a:ext uri="{FF2B5EF4-FFF2-40B4-BE49-F238E27FC236}">
                <a16:creationId xmlns:a16="http://schemas.microsoft.com/office/drawing/2014/main" id="{A7C3561C-81EF-4D93-A7AE-A8BEDE03A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9429" y="89908"/>
            <a:ext cx="1810558" cy="907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95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221" y="335440"/>
            <a:ext cx="8191500" cy="750847"/>
          </a:xfrm>
          <a:prstGeom prst="rect">
            <a:avLst/>
          </a:prstGeom>
        </p:spPr>
        <p:txBody>
          <a:bodyPr vert="horz" wrap="square" lIns="0" tIns="12065" rIns="0" bIns="0" rtlCol="0" anchor="b">
            <a:spAutoFit/>
          </a:bodyPr>
          <a:lstStyle/>
          <a:p>
            <a:pPr marL="12700">
              <a:lnSpc>
                <a:spcPct val="100000"/>
              </a:lnSpc>
              <a:spcBef>
                <a:spcPts val="95"/>
              </a:spcBef>
            </a:pPr>
            <a:r>
              <a:rPr lang="en-GB" spc="-10" dirty="0"/>
              <a:t>Essential Readings</a:t>
            </a:r>
            <a:endParaRPr dirty="0"/>
          </a:p>
        </p:txBody>
      </p:sp>
      <p:sp>
        <p:nvSpPr>
          <p:cNvPr id="3" name="object 3"/>
          <p:cNvSpPr txBox="1"/>
          <p:nvPr/>
        </p:nvSpPr>
        <p:spPr>
          <a:xfrm>
            <a:off x="1199143" y="1968284"/>
            <a:ext cx="10050104" cy="5586658"/>
          </a:xfrm>
          <a:prstGeom prst="rect">
            <a:avLst/>
          </a:prstGeom>
        </p:spPr>
        <p:txBody>
          <a:bodyPr vert="horz" wrap="square" lIns="0" tIns="12065" rIns="0" bIns="0" rtlCol="0">
            <a:spAutoFit/>
          </a:bodyPr>
          <a:lstStyle/>
          <a:p>
            <a:pPr marL="79375" marR="5080" defTabSz="538163">
              <a:spcBef>
                <a:spcPts val="600"/>
              </a:spcBef>
              <a:spcAft>
                <a:spcPts val="600"/>
              </a:spcAft>
              <a:buClr>
                <a:srgbClr val="00B0F0"/>
              </a:buClr>
              <a:tabLst>
                <a:tab pos="456565" algn="l"/>
              </a:tabLst>
            </a:pPr>
            <a:r>
              <a:rPr lang="en-GB" sz="2000" dirty="0"/>
              <a:t>1. Machin, S., McNally, S., &amp; </a:t>
            </a:r>
            <a:r>
              <a:rPr lang="en-GB" sz="2000" dirty="0" err="1"/>
              <a:t>Viarengo</a:t>
            </a:r>
            <a:r>
              <a:rPr lang="en-GB" sz="2000" dirty="0"/>
              <a:t>, M. (2018) Changing how literacy is taught: Evidence on synthetic phonics. </a:t>
            </a:r>
            <a:r>
              <a:rPr lang="en-GB" sz="2000" i="1" dirty="0"/>
              <a:t>American Economic Journal: Economic Policy</a:t>
            </a:r>
            <a:r>
              <a:rPr lang="en-GB" sz="2000" dirty="0"/>
              <a:t>, 10(2), pp.217-241. </a:t>
            </a:r>
            <a:r>
              <a:rPr lang="en-GB" sz="2000" dirty="0">
                <a:hlinkClick r:id="rId2"/>
              </a:rPr>
              <a:t>https://doi.org/10.1257/pol.20160514</a:t>
            </a:r>
            <a:r>
              <a:rPr lang="en-GB" sz="2000" dirty="0"/>
              <a:t>.</a:t>
            </a:r>
            <a:r>
              <a:rPr lang="en-GB" sz="2000" spc="-5" dirty="0">
                <a:solidFill>
                  <a:srgbClr val="404040"/>
                </a:solidFill>
                <a:latin typeface="Gothic Uralic"/>
                <a:cs typeface="Gothic Uralic"/>
              </a:rPr>
              <a:t> </a:t>
            </a:r>
          </a:p>
          <a:p>
            <a:pPr marL="79375" marR="5080" defTabSz="538163">
              <a:lnSpc>
                <a:spcPct val="120000"/>
              </a:lnSpc>
              <a:spcBef>
                <a:spcPts val="600"/>
              </a:spcBef>
              <a:spcAft>
                <a:spcPts val="600"/>
              </a:spcAft>
              <a:buClr>
                <a:srgbClr val="00B0F0"/>
              </a:buClr>
              <a:tabLst>
                <a:tab pos="456565" algn="l"/>
              </a:tabLst>
            </a:pPr>
            <a:endParaRPr lang="en-GB" sz="2000" dirty="0"/>
          </a:p>
          <a:p>
            <a:pPr marL="79375" marR="5080" defTabSz="538163">
              <a:lnSpc>
                <a:spcPct val="120000"/>
              </a:lnSpc>
              <a:spcBef>
                <a:spcPts val="600"/>
              </a:spcBef>
              <a:spcAft>
                <a:spcPts val="600"/>
              </a:spcAft>
              <a:buClr>
                <a:srgbClr val="00B0F0"/>
              </a:buClr>
              <a:tabLst>
                <a:tab pos="456565" algn="l"/>
              </a:tabLst>
            </a:pPr>
            <a:r>
              <a:rPr lang="en-GB" sz="2000" dirty="0"/>
              <a:t>2. Moss, G. (2021) Literacies and social practice: sociological perspectives on reading research, </a:t>
            </a:r>
            <a:r>
              <a:rPr lang="en-GB" sz="2000" i="1" dirty="0"/>
              <a:t>Education 3-13</a:t>
            </a:r>
            <a:r>
              <a:rPr lang="en-GB" sz="2000" dirty="0"/>
              <a:t>, 49(1), pp. 41-51, DOI: </a:t>
            </a:r>
            <a:r>
              <a:rPr lang="en-GB" sz="2000" u="sng" dirty="0">
                <a:hlinkClick r:id="rId3"/>
              </a:rPr>
              <a:t>10.1080/03004279.2020.1824701</a:t>
            </a:r>
            <a:endParaRPr lang="en-GB" sz="2000" u="sng" dirty="0"/>
          </a:p>
          <a:p>
            <a:pPr marL="79375" marR="5080" defTabSz="538163">
              <a:lnSpc>
                <a:spcPct val="120000"/>
              </a:lnSpc>
              <a:spcBef>
                <a:spcPts val="600"/>
              </a:spcBef>
              <a:spcAft>
                <a:spcPts val="600"/>
              </a:spcAft>
              <a:buClr>
                <a:srgbClr val="00B0F0"/>
              </a:buClr>
              <a:tabLst>
                <a:tab pos="456565" algn="l"/>
              </a:tabLst>
            </a:pPr>
            <a:endParaRPr lang="en-GB" sz="2000" dirty="0"/>
          </a:p>
          <a:p>
            <a:pPr marL="79375" marR="5080" defTabSz="538163">
              <a:lnSpc>
                <a:spcPct val="120000"/>
              </a:lnSpc>
              <a:spcBef>
                <a:spcPts val="600"/>
              </a:spcBef>
              <a:spcAft>
                <a:spcPts val="600"/>
              </a:spcAft>
              <a:buClr>
                <a:srgbClr val="00B0F0"/>
              </a:buClr>
              <a:tabLst>
                <a:tab pos="456565" algn="l"/>
              </a:tabLst>
            </a:pPr>
            <a:r>
              <a:rPr lang="en-GB" sz="2000" dirty="0"/>
              <a:t>3. Education Endowment Foundation (2018) Improving Literacy in Secondary Schools Guidance Report. [Online] Accessible from: </a:t>
            </a:r>
            <a:r>
              <a:rPr lang="en-GB" sz="2000" dirty="0">
                <a:hlinkClick r:id="rId4"/>
              </a:rPr>
              <a:t>https://educationendowmentfoundation.org.uk/education-evidence/guidance-reports/literacy-ks3-ks4</a:t>
            </a:r>
            <a:r>
              <a:rPr lang="en-GB" sz="2000" dirty="0"/>
              <a:t> [retrieved 17 August 2023].</a:t>
            </a:r>
          </a:p>
          <a:p>
            <a:pPr marL="79375" marR="5080" defTabSz="538163">
              <a:lnSpc>
                <a:spcPct val="120000"/>
              </a:lnSpc>
              <a:spcBef>
                <a:spcPts val="600"/>
              </a:spcBef>
              <a:spcAft>
                <a:spcPts val="600"/>
              </a:spcAft>
              <a:buClr>
                <a:srgbClr val="00B0F0"/>
              </a:buClr>
              <a:tabLst>
                <a:tab pos="456565" algn="l"/>
              </a:tabLst>
            </a:pPr>
            <a:endParaRPr lang="en-GB" sz="3200" u="sng" spc="-5" dirty="0">
              <a:solidFill>
                <a:srgbClr val="404040"/>
              </a:solidFill>
              <a:latin typeface="Gothic Uralic"/>
              <a:cs typeface="Gothic Uralic"/>
            </a:endParaRPr>
          </a:p>
          <a:p>
            <a:pPr marL="79375" marR="5080" defTabSz="538163">
              <a:lnSpc>
                <a:spcPct val="120000"/>
              </a:lnSpc>
              <a:spcBef>
                <a:spcPts val="600"/>
              </a:spcBef>
              <a:spcAft>
                <a:spcPts val="600"/>
              </a:spcAft>
              <a:buClr>
                <a:srgbClr val="00B0F0"/>
              </a:buClr>
              <a:tabLst>
                <a:tab pos="456565" algn="l"/>
              </a:tabLst>
            </a:pPr>
            <a:endParaRPr lang="en-GB" sz="3200" spc="-5" dirty="0">
              <a:solidFill>
                <a:srgbClr val="404040"/>
              </a:solidFill>
              <a:latin typeface="Gothic Uralic"/>
              <a:cs typeface="Gothic Uralic"/>
            </a:endParaRPr>
          </a:p>
        </p:txBody>
      </p:sp>
      <p:sp>
        <p:nvSpPr>
          <p:cNvPr id="6" name="Oval 5">
            <a:extLst>
              <a:ext uri="{FF2B5EF4-FFF2-40B4-BE49-F238E27FC236}">
                <a16:creationId xmlns:a16="http://schemas.microsoft.com/office/drawing/2014/main" id="{3210350F-8D9C-0D78-01E6-C25EF5A7CE4F}"/>
              </a:ext>
            </a:extLst>
          </p:cNvPr>
          <p:cNvSpPr/>
          <p:nvPr/>
        </p:nvSpPr>
        <p:spPr>
          <a:xfrm rot="280917">
            <a:off x="7165075" y="264608"/>
            <a:ext cx="5026925" cy="16433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dirty="0"/>
              <a:t>Department for Education (2023) </a:t>
            </a:r>
            <a:r>
              <a:rPr lang="en-GB" sz="2400" i="1" dirty="0"/>
              <a:t>The Reading Framework</a:t>
            </a:r>
            <a:endParaRPr lang="en-GB"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3F643-8F9D-41DC-8403-BA91CBB66A17}"/>
              </a:ext>
            </a:extLst>
          </p:cNvPr>
          <p:cNvSpPr>
            <a:spLocks noGrp="1"/>
          </p:cNvSpPr>
          <p:nvPr>
            <p:ph type="title"/>
          </p:nvPr>
        </p:nvSpPr>
        <p:spPr>
          <a:xfrm>
            <a:off x="969690" y="563049"/>
            <a:ext cx="10058400" cy="836803"/>
          </a:xfrm>
        </p:spPr>
        <p:txBody>
          <a:bodyPr>
            <a:normAutofit/>
          </a:bodyPr>
          <a:lstStyle/>
          <a:p>
            <a:r>
              <a:rPr lang="en-GB" dirty="0"/>
              <a:t>Subject and Curriculum </a:t>
            </a:r>
          </a:p>
        </p:txBody>
      </p:sp>
      <p:sp>
        <p:nvSpPr>
          <p:cNvPr id="3" name="Content Placeholder 2">
            <a:extLst>
              <a:ext uri="{FF2B5EF4-FFF2-40B4-BE49-F238E27FC236}">
                <a16:creationId xmlns:a16="http://schemas.microsoft.com/office/drawing/2014/main" id="{141EFBD6-0538-425C-BBA2-0048146A5236}"/>
              </a:ext>
            </a:extLst>
          </p:cNvPr>
          <p:cNvSpPr>
            <a:spLocks noGrp="1"/>
          </p:cNvSpPr>
          <p:nvPr>
            <p:ph idx="1"/>
          </p:nvPr>
        </p:nvSpPr>
        <p:spPr/>
        <p:txBody>
          <a:bodyPr vert="horz" lIns="0" tIns="45720" rIns="0" bIns="45720" rtlCol="0" anchor="t">
            <a:normAutofit/>
          </a:bodyPr>
          <a:lstStyle/>
          <a:p>
            <a:r>
              <a:rPr lang="en-GB" sz="2800" dirty="0"/>
              <a:t>To access the curriculum, early literacy provides fundamental knowledge; reading comprises two elements: word reading and language comprehension; systematic synthetic phonics is the most effective approach for teaching pupils to decode (ITTECF3.9)</a:t>
            </a:r>
          </a:p>
          <a:p>
            <a:endParaRPr lang="en-GB" sz="2800" dirty="0"/>
          </a:p>
          <a:p>
            <a:r>
              <a:rPr lang="en-GB" sz="2800" dirty="0"/>
              <a:t>Every teacher can improve pupils’ literacy, including by explicitly teaching reading, writing and oral language skills specific to individual disciplines (ITTECF3.10)</a:t>
            </a:r>
            <a:endParaRPr lang="en-GB" sz="2800" dirty="0">
              <a:ea typeface="Calibri"/>
              <a:cs typeface="Calibri"/>
            </a:endParaRPr>
          </a:p>
        </p:txBody>
      </p:sp>
      <p:sp>
        <p:nvSpPr>
          <p:cNvPr id="4" name="TextBox 3">
            <a:extLst>
              <a:ext uri="{FF2B5EF4-FFF2-40B4-BE49-F238E27FC236}">
                <a16:creationId xmlns:a16="http://schemas.microsoft.com/office/drawing/2014/main" id="{B10E473A-DE1E-A126-5ABA-9F07A3F61714}"/>
              </a:ext>
            </a:extLst>
          </p:cNvPr>
          <p:cNvSpPr txBox="1"/>
          <p:nvPr/>
        </p:nvSpPr>
        <p:spPr>
          <a:xfrm>
            <a:off x="8263758" y="5806965"/>
            <a:ext cx="37180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Department for Education, 2024</a:t>
            </a:r>
            <a:endParaRPr lang="en-GB" dirty="0"/>
          </a:p>
        </p:txBody>
      </p:sp>
    </p:spTree>
    <p:extLst>
      <p:ext uri="{BB962C8B-B14F-4D97-AF65-F5344CB8AC3E}">
        <p14:creationId xmlns:p14="http://schemas.microsoft.com/office/powerpoint/2010/main" val="185054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E6632-323A-4434-A46F-D61B8DC4D1A4}"/>
              </a:ext>
            </a:extLst>
          </p:cNvPr>
          <p:cNvSpPr>
            <a:spLocks noGrp="1"/>
          </p:cNvSpPr>
          <p:nvPr>
            <p:ph type="title"/>
          </p:nvPr>
        </p:nvSpPr>
        <p:spPr>
          <a:xfrm>
            <a:off x="871869" y="541785"/>
            <a:ext cx="10177485" cy="836803"/>
          </a:xfrm>
        </p:spPr>
        <p:txBody>
          <a:bodyPr>
            <a:normAutofit/>
          </a:bodyPr>
          <a:lstStyle/>
          <a:p>
            <a:r>
              <a:rPr lang="en-GB" sz="4000" dirty="0"/>
              <a:t>Considering our own language…</a:t>
            </a:r>
          </a:p>
        </p:txBody>
      </p:sp>
      <p:sp>
        <p:nvSpPr>
          <p:cNvPr id="3" name="Content Placeholder 2">
            <a:extLst>
              <a:ext uri="{FF2B5EF4-FFF2-40B4-BE49-F238E27FC236}">
                <a16:creationId xmlns:a16="http://schemas.microsoft.com/office/drawing/2014/main" id="{2B7BE5AB-4DA3-4E5E-BAF2-68F1485FE7BE}"/>
              </a:ext>
            </a:extLst>
          </p:cNvPr>
          <p:cNvSpPr>
            <a:spLocks noGrp="1"/>
          </p:cNvSpPr>
          <p:nvPr>
            <p:ph idx="1"/>
          </p:nvPr>
        </p:nvSpPr>
        <p:spPr/>
        <p:txBody>
          <a:bodyPr>
            <a:normAutofit/>
          </a:bodyPr>
          <a:lstStyle/>
          <a:p>
            <a:r>
              <a:rPr lang="en-GB" dirty="0"/>
              <a:t>1. Do you have a favourite ‘filler’ that you use a lot – e.g. ‘you know’, ‘I mean’, ‘like’, ‘well’, ‘um’, ‘</a:t>
            </a:r>
            <a:r>
              <a:rPr lang="en-GB" dirty="0" err="1"/>
              <a:t>er</a:t>
            </a:r>
            <a:r>
              <a:rPr lang="en-GB" dirty="0"/>
              <a:t>’?</a:t>
            </a:r>
          </a:p>
          <a:p>
            <a:endParaRPr lang="en-GB" dirty="0"/>
          </a:p>
          <a:p>
            <a:r>
              <a:rPr lang="en-GB" dirty="0"/>
              <a:t>2. Do you have particular words for ‘good’ and ‘bad’?</a:t>
            </a:r>
          </a:p>
          <a:p>
            <a:endParaRPr lang="en-GB" dirty="0"/>
          </a:p>
          <a:p>
            <a:r>
              <a:rPr lang="en-GB" dirty="0"/>
              <a:t>3. Do you have words and phrases that you like, and use a lot as a teacher? (What words/phrases would your students say were typical of you?)</a:t>
            </a:r>
          </a:p>
          <a:p>
            <a:endParaRPr lang="en-GB" dirty="0"/>
          </a:p>
          <a:p>
            <a:r>
              <a:rPr lang="en-GB" dirty="0"/>
              <a:t>4. Are there certain words that you have trouble pronouncing or writing, or whose meaning you have trouble remembering within your subject specialism?</a:t>
            </a:r>
          </a:p>
          <a:p>
            <a:endParaRPr lang="en-GB" dirty="0"/>
          </a:p>
        </p:txBody>
      </p:sp>
    </p:spTree>
    <p:extLst>
      <p:ext uri="{BB962C8B-B14F-4D97-AF65-F5344CB8AC3E}">
        <p14:creationId xmlns:p14="http://schemas.microsoft.com/office/powerpoint/2010/main" val="4222075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195CF5-3FE3-4D30-8968-F7EB9330C71A}"/>
              </a:ext>
            </a:extLst>
          </p:cNvPr>
          <p:cNvSpPr txBox="1"/>
          <p:nvPr/>
        </p:nvSpPr>
        <p:spPr>
          <a:xfrm>
            <a:off x="1531089" y="563524"/>
            <a:ext cx="8676167" cy="1077218"/>
          </a:xfrm>
          <a:prstGeom prst="rect">
            <a:avLst/>
          </a:prstGeom>
          <a:noFill/>
        </p:spPr>
        <p:txBody>
          <a:bodyPr wrap="square" rtlCol="0">
            <a:spAutoFit/>
          </a:bodyPr>
          <a:lstStyle/>
          <a:p>
            <a:pPr algn="ctr"/>
            <a:r>
              <a:rPr lang="en-GB" sz="3200" dirty="0"/>
              <a:t>Why is it important to consider our own literacies in initial teacher training? </a:t>
            </a:r>
          </a:p>
        </p:txBody>
      </p:sp>
      <p:pic>
        <p:nvPicPr>
          <p:cNvPr id="5" name="Picture 4">
            <a:extLst>
              <a:ext uri="{FF2B5EF4-FFF2-40B4-BE49-F238E27FC236}">
                <a16:creationId xmlns:a16="http://schemas.microsoft.com/office/drawing/2014/main" id="{B12410A0-3379-4C10-99A3-E14BA46BA0FF}"/>
              </a:ext>
            </a:extLst>
          </p:cNvPr>
          <p:cNvPicPr>
            <a:picLocks noChangeAspect="1"/>
          </p:cNvPicPr>
          <p:nvPr/>
        </p:nvPicPr>
        <p:blipFill>
          <a:blip r:embed="rId2"/>
          <a:stretch>
            <a:fillRect/>
          </a:stretch>
        </p:blipFill>
        <p:spPr>
          <a:xfrm>
            <a:off x="3763924" y="2051383"/>
            <a:ext cx="4041037" cy="4127755"/>
          </a:xfrm>
          <a:prstGeom prst="rect">
            <a:avLst/>
          </a:prstGeom>
        </p:spPr>
      </p:pic>
    </p:spTree>
    <p:extLst>
      <p:ext uri="{BB962C8B-B14F-4D97-AF65-F5344CB8AC3E}">
        <p14:creationId xmlns:p14="http://schemas.microsoft.com/office/powerpoint/2010/main" val="1799293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023F61-E347-BD67-F4DB-45D89D5AA6E0}"/>
              </a:ext>
            </a:extLst>
          </p:cNvPr>
          <p:cNvSpPr>
            <a:spLocks noGrp="1"/>
          </p:cNvSpPr>
          <p:nvPr>
            <p:ph idx="4294967295"/>
          </p:nvPr>
        </p:nvSpPr>
        <p:spPr>
          <a:xfrm>
            <a:off x="2133600" y="3429000"/>
            <a:ext cx="8137451" cy="2681288"/>
          </a:xfrm>
        </p:spPr>
        <p:txBody>
          <a:bodyPr/>
          <a:lstStyle/>
          <a:p>
            <a:endParaRPr lang="en-GB" sz="3200" dirty="0"/>
          </a:p>
          <a:p>
            <a:r>
              <a:rPr lang="en-GB" sz="3200" dirty="0"/>
              <a:t>Your language is unique, like your fingerprints.</a:t>
            </a:r>
          </a:p>
          <a:p>
            <a:endParaRPr lang="en-GB" dirty="0"/>
          </a:p>
          <a:p>
            <a:r>
              <a:rPr lang="en-GB" dirty="0"/>
              <a:t>(Goddard, Keen, Shuttleworth and Green, 1991)</a:t>
            </a:r>
          </a:p>
        </p:txBody>
      </p:sp>
      <p:pic>
        <p:nvPicPr>
          <p:cNvPr id="5" name="Graphic 4" descr="Fingerprint">
            <a:extLst>
              <a:ext uri="{FF2B5EF4-FFF2-40B4-BE49-F238E27FC236}">
                <a16:creationId xmlns:a16="http://schemas.microsoft.com/office/drawing/2014/main" id="{E7601425-08CF-4A33-945F-0524A447C4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80614" y="442547"/>
            <a:ext cx="2838893" cy="2838893"/>
          </a:xfrm>
          <a:prstGeom prst="rect">
            <a:avLst/>
          </a:prstGeom>
        </p:spPr>
      </p:pic>
    </p:spTree>
    <p:extLst>
      <p:ext uri="{BB962C8B-B14F-4D97-AF65-F5344CB8AC3E}">
        <p14:creationId xmlns:p14="http://schemas.microsoft.com/office/powerpoint/2010/main" val="578875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0FC656-9D87-4ACA-9A27-C361C089C913}"/>
              </a:ext>
            </a:extLst>
          </p:cNvPr>
          <p:cNvPicPr>
            <a:picLocks noChangeAspect="1"/>
          </p:cNvPicPr>
          <p:nvPr/>
        </p:nvPicPr>
        <p:blipFill>
          <a:blip r:embed="rId2"/>
          <a:stretch>
            <a:fillRect/>
          </a:stretch>
        </p:blipFill>
        <p:spPr>
          <a:xfrm>
            <a:off x="5992840" y="908896"/>
            <a:ext cx="5173157" cy="4651932"/>
          </a:xfrm>
          <a:prstGeom prst="rect">
            <a:avLst/>
          </a:prstGeom>
        </p:spPr>
      </p:pic>
      <p:pic>
        <p:nvPicPr>
          <p:cNvPr id="4" name="Picture 3">
            <a:extLst>
              <a:ext uri="{FF2B5EF4-FFF2-40B4-BE49-F238E27FC236}">
                <a16:creationId xmlns:a16="http://schemas.microsoft.com/office/drawing/2014/main" id="{AB061A34-7CEF-4E5F-B418-19C9E378DEA8}"/>
              </a:ext>
            </a:extLst>
          </p:cNvPr>
          <p:cNvPicPr>
            <a:picLocks noChangeAspect="1"/>
          </p:cNvPicPr>
          <p:nvPr/>
        </p:nvPicPr>
        <p:blipFill>
          <a:blip r:embed="rId2"/>
          <a:stretch>
            <a:fillRect/>
          </a:stretch>
        </p:blipFill>
        <p:spPr>
          <a:xfrm>
            <a:off x="922843" y="908896"/>
            <a:ext cx="5173157" cy="4651932"/>
          </a:xfrm>
          <a:prstGeom prst="rect">
            <a:avLst/>
          </a:prstGeom>
        </p:spPr>
      </p:pic>
    </p:spTree>
    <p:extLst>
      <p:ext uri="{BB962C8B-B14F-4D97-AF65-F5344CB8AC3E}">
        <p14:creationId xmlns:p14="http://schemas.microsoft.com/office/powerpoint/2010/main" val="1157845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96F53-4DBB-4067-90B5-1822F777315A}"/>
              </a:ext>
            </a:extLst>
          </p:cNvPr>
          <p:cNvSpPr>
            <a:spLocks noGrp="1"/>
          </p:cNvSpPr>
          <p:nvPr>
            <p:ph type="title"/>
          </p:nvPr>
        </p:nvSpPr>
        <p:spPr>
          <a:xfrm>
            <a:off x="1066800" y="658742"/>
            <a:ext cx="10058400" cy="836803"/>
          </a:xfrm>
        </p:spPr>
        <p:txBody>
          <a:bodyPr/>
          <a:lstStyle/>
          <a:p>
            <a:r>
              <a:rPr lang="en-GB" dirty="0"/>
              <a:t>Disciplinary Literacy</a:t>
            </a:r>
          </a:p>
        </p:txBody>
      </p:sp>
      <p:sp>
        <p:nvSpPr>
          <p:cNvPr id="3" name="Content Placeholder 2">
            <a:extLst>
              <a:ext uri="{FF2B5EF4-FFF2-40B4-BE49-F238E27FC236}">
                <a16:creationId xmlns:a16="http://schemas.microsoft.com/office/drawing/2014/main" id="{34A3F9BE-AF48-493F-92E3-3D0FFBB3D5DD}"/>
              </a:ext>
            </a:extLst>
          </p:cNvPr>
          <p:cNvSpPr>
            <a:spLocks noGrp="1"/>
          </p:cNvSpPr>
          <p:nvPr>
            <p:ph idx="1"/>
          </p:nvPr>
        </p:nvSpPr>
        <p:spPr/>
        <p:txBody>
          <a:bodyPr>
            <a:normAutofit/>
          </a:bodyPr>
          <a:lstStyle/>
          <a:p>
            <a:r>
              <a:rPr lang="en-GB" sz="3600" i="1" dirty="0"/>
              <a:t>What is unique about </a:t>
            </a:r>
          </a:p>
          <a:p>
            <a:r>
              <a:rPr lang="en-GB" sz="3600" i="1" dirty="0"/>
              <a:t>your subject discipline </a:t>
            </a:r>
          </a:p>
          <a:p>
            <a:r>
              <a:rPr lang="en-GB" sz="3600" i="1" dirty="0"/>
              <a:t>in terms of </a:t>
            </a:r>
          </a:p>
          <a:p>
            <a:r>
              <a:rPr lang="en-GB" sz="3600" dirty="0"/>
              <a:t>Speaking and Listening?</a:t>
            </a:r>
          </a:p>
          <a:p>
            <a:r>
              <a:rPr lang="en-GB" sz="3600" dirty="0"/>
              <a:t>Reading?</a:t>
            </a:r>
          </a:p>
          <a:p>
            <a:r>
              <a:rPr lang="en-GB" sz="3600" dirty="0"/>
              <a:t>Writing?</a:t>
            </a:r>
          </a:p>
        </p:txBody>
      </p:sp>
      <p:pic>
        <p:nvPicPr>
          <p:cNvPr id="4" name="Picture 3">
            <a:extLst>
              <a:ext uri="{FF2B5EF4-FFF2-40B4-BE49-F238E27FC236}">
                <a16:creationId xmlns:a16="http://schemas.microsoft.com/office/drawing/2014/main" id="{F7CE7FA2-F27C-4E96-B2E2-32409B65D068}"/>
              </a:ext>
            </a:extLst>
          </p:cNvPr>
          <p:cNvPicPr>
            <a:picLocks noChangeAspect="1"/>
          </p:cNvPicPr>
          <p:nvPr/>
        </p:nvPicPr>
        <p:blipFill>
          <a:blip r:embed="rId2"/>
          <a:stretch>
            <a:fillRect/>
          </a:stretch>
        </p:blipFill>
        <p:spPr>
          <a:xfrm>
            <a:off x="6383655" y="1894114"/>
            <a:ext cx="4772025" cy="3724275"/>
          </a:xfrm>
          <a:prstGeom prst="rect">
            <a:avLst/>
          </a:prstGeom>
        </p:spPr>
      </p:pic>
    </p:spTree>
    <p:extLst>
      <p:ext uri="{BB962C8B-B14F-4D97-AF65-F5344CB8AC3E}">
        <p14:creationId xmlns:p14="http://schemas.microsoft.com/office/powerpoint/2010/main" val="2291634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56C-FFBB-42DC-B1DF-6F6E08A7517B}"/>
              </a:ext>
            </a:extLst>
          </p:cNvPr>
          <p:cNvSpPr>
            <a:spLocks noGrp="1"/>
          </p:cNvSpPr>
          <p:nvPr>
            <p:ph type="title"/>
          </p:nvPr>
        </p:nvSpPr>
        <p:spPr>
          <a:xfrm>
            <a:off x="1097280" y="584791"/>
            <a:ext cx="10058400" cy="818707"/>
          </a:xfrm>
        </p:spPr>
        <p:txBody>
          <a:bodyPr>
            <a:normAutofit/>
          </a:bodyPr>
          <a:lstStyle/>
          <a:p>
            <a:r>
              <a:rPr lang="en-GB" dirty="0"/>
              <a:t>A disciplinary literacy model (EEF, 2018) </a:t>
            </a:r>
          </a:p>
        </p:txBody>
      </p:sp>
      <p:pic>
        <p:nvPicPr>
          <p:cNvPr id="4" name="Content Placeholder 3">
            <a:extLst>
              <a:ext uri="{FF2B5EF4-FFF2-40B4-BE49-F238E27FC236}">
                <a16:creationId xmlns:a16="http://schemas.microsoft.com/office/drawing/2014/main" id="{8087F33E-F705-476B-9412-70F57CDB0F77}"/>
              </a:ext>
            </a:extLst>
          </p:cNvPr>
          <p:cNvPicPr>
            <a:picLocks noGrp="1" noChangeAspect="1"/>
          </p:cNvPicPr>
          <p:nvPr>
            <p:ph idx="1"/>
          </p:nvPr>
        </p:nvPicPr>
        <p:blipFill>
          <a:blip r:embed="rId2"/>
          <a:stretch>
            <a:fillRect/>
          </a:stretch>
        </p:blipFill>
        <p:spPr>
          <a:xfrm>
            <a:off x="3039139" y="1904520"/>
            <a:ext cx="6556820" cy="4216400"/>
          </a:xfrm>
          <a:prstGeom prst="rect">
            <a:avLst/>
          </a:prstGeom>
        </p:spPr>
      </p:pic>
    </p:spTree>
    <p:extLst>
      <p:ext uri="{BB962C8B-B14F-4D97-AF65-F5344CB8AC3E}">
        <p14:creationId xmlns:p14="http://schemas.microsoft.com/office/powerpoint/2010/main" val="2864482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1B6E75-F031-D11D-320F-77683F8C9158}"/>
              </a:ext>
            </a:extLst>
          </p:cNvPr>
          <p:cNvSpPr txBox="1"/>
          <p:nvPr/>
        </p:nvSpPr>
        <p:spPr>
          <a:xfrm>
            <a:off x="308502" y="231377"/>
            <a:ext cx="5369283" cy="584775"/>
          </a:xfrm>
          <a:prstGeom prst="rect">
            <a:avLst/>
          </a:prstGeom>
          <a:noFill/>
        </p:spPr>
        <p:txBody>
          <a:bodyPr wrap="square" rtlCol="0">
            <a:spAutoFit/>
          </a:bodyPr>
          <a:lstStyle/>
          <a:p>
            <a:r>
              <a:rPr lang="en-GB" sz="3200" dirty="0"/>
              <a:t>What is literacy?</a:t>
            </a:r>
          </a:p>
        </p:txBody>
      </p:sp>
      <p:sp>
        <p:nvSpPr>
          <p:cNvPr id="5" name="TextBox 4">
            <a:extLst>
              <a:ext uri="{FF2B5EF4-FFF2-40B4-BE49-F238E27FC236}">
                <a16:creationId xmlns:a16="http://schemas.microsoft.com/office/drawing/2014/main" id="{23EEF66F-4AEE-43CA-A029-91C2FC35F607}"/>
              </a:ext>
            </a:extLst>
          </p:cNvPr>
          <p:cNvSpPr txBox="1"/>
          <p:nvPr/>
        </p:nvSpPr>
        <p:spPr>
          <a:xfrm>
            <a:off x="1541722" y="2083981"/>
            <a:ext cx="8644270" cy="3354765"/>
          </a:xfrm>
          <a:prstGeom prst="rect">
            <a:avLst/>
          </a:prstGeom>
          <a:noFill/>
        </p:spPr>
        <p:txBody>
          <a:bodyPr wrap="square" rtlCol="0">
            <a:spAutoFit/>
          </a:bodyPr>
          <a:lstStyle/>
          <a:p>
            <a:r>
              <a:rPr lang="en-GB" sz="4000" dirty="0"/>
              <a:t>In 2001, George Bush suggested: ‘You teach a child to read and he or her will be able to pass a literacy test.’ </a:t>
            </a:r>
          </a:p>
          <a:p>
            <a:pPr algn="ctr"/>
            <a:endParaRPr lang="en-GB" sz="2800" dirty="0"/>
          </a:p>
          <a:p>
            <a:pPr algn="ctr"/>
            <a:r>
              <a:rPr lang="en-GB" sz="2800" dirty="0"/>
              <a:t>									(cited in Yandell, 2008, p.2)</a:t>
            </a:r>
          </a:p>
          <a:p>
            <a:endParaRPr lang="en-GB" dirty="0"/>
          </a:p>
          <a:p>
            <a:r>
              <a:rPr lang="en-GB" dirty="0"/>
              <a:t> </a:t>
            </a:r>
          </a:p>
        </p:txBody>
      </p:sp>
    </p:spTree>
    <p:extLst>
      <p:ext uri="{BB962C8B-B14F-4D97-AF65-F5344CB8AC3E}">
        <p14:creationId xmlns:p14="http://schemas.microsoft.com/office/powerpoint/2010/main" val="3029544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B07F1-CE96-45C2-A097-31E617D4AFCA}"/>
              </a:ext>
            </a:extLst>
          </p:cNvPr>
          <p:cNvSpPr>
            <a:spLocks noGrp="1"/>
          </p:cNvSpPr>
          <p:nvPr>
            <p:ph type="title" idx="4294967295"/>
          </p:nvPr>
        </p:nvSpPr>
        <p:spPr>
          <a:xfrm>
            <a:off x="2133600" y="638175"/>
            <a:ext cx="10058400" cy="966788"/>
          </a:xfrm>
        </p:spPr>
        <p:txBody>
          <a:bodyPr>
            <a:noAutofit/>
          </a:bodyPr>
          <a:lstStyle/>
          <a:p>
            <a:br>
              <a:rPr lang="en-GB" sz="2400" dirty="0"/>
            </a:br>
            <a:endParaRPr lang="en-GB" sz="2400" dirty="0"/>
          </a:p>
        </p:txBody>
      </p:sp>
      <p:sp>
        <p:nvSpPr>
          <p:cNvPr id="3" name="Content Placeholder 2">
            <a:extLst>
              <a:ext uri="{FF2B5EF4-FFF2-40B4-BE49-F238E27FC236}">
                <a16:creationId xmlns:a16="http://schemas.microsoft.com/office/drawing/2014/main" id="{3BCBB452-2056-4E86-ACBA-60CA15B57D1E}"/>
              </a:ext>
            </a:extLst>
          </p:cNvPr>
          <p:cNvSpPr>
            <a:spLocks noGrp="1"/>
          </p:cNvSpPr>
          <p:nvPr>
            <p:ph idx="4294967295"/>
          </p:nvPr>
        </p:nvSpPr>
        <p:spPr>
          <a:xfrm>
            <a:off x="1066800" y="1314149"/>
            <a:ext cx="10058400" cy="4312693"/>
          </a:xfrm>
        </p:spPr>
        <p:txBody>
          <a:bodyPr>
            <a:normAutofit lnSpcReduction="10000"/>
          </a:bodyPr>
          <a:lstStyle/>
          <a:p>
            <a:endParaRPr lang="en-GB" sz="2800" dirty="0"/>
          </a:p>
          <a:p>
            <a:r>
              <a:rPr lang="en-GB" sz="3500" dirty="0"/>
              <a:t>Young people who leave school without good literacy skills are held back at every stage of life. Their outcomes are poorer on almost every measure, from health and wellbeing, to employment and finance. The most recent estimates suggest that low levels of literacy cost the UK economy at least £20 billion a year. </a:t>
            </a:r>
            <a:endParaRPr lang="en-GB" dirty="0"/>
          </a:p>
          <a:p>
            <a:pPr algn="r"/>
            <a:r>
              <a:rPr lang="en-GB" dirty="0"/>
              <a:t>(EEF, 2018, foreword by Sir Kevan Collins)</a:t>
            </a:r>
          </a:p>
          <a:p>
            <a:r>
              <a:rPr lang="en-GB" dirty="0"/>
              <a:t> </a:t>
            </a:r>
          </a:p>
        </p:txBody>
      </p:sp>
      <p:sp>
        <p:nvSpPr>
          <p:cNvPr id="4" name="TextBox 3">
            <a:extLst>
              <a:ext uri="{FF2B5EF4-FFF2-40B4-BE49-F238E27FC236}">
                <a16:creationId xmlns:a16="http://schemas.microsoft.com/office/drawing/2014/main" id="{E5665D40-4ECE-4EEC-AD50-EC3388EBA0AC}"/>
              </a:ext>
            </a:extLst>
          </p:cNvPr>
          <p:cNvSpPr txBox="1"/>
          <p:nvPr/>
        </p:nvSpPr>
        <p:spPr>
          <a:xfrm>
            <a:off x="138223" y="170121"/>
            <a:ext cx="3455582" cy="646331"/>
          </a:xfrm>
          <a:prstGeom prst="rect">
            <a:avLst/>
          </a:prstGeom>
          <a:noFill/>
        </p:spPr>
        <p:txBody>
          <a:bodyPr wrap="square" rtlCol="0">
            <a:spAutoFit/>
          </a:bodyPr>
          <a:lstStyle/>
          <a:p>
            <a:r>
              <a:rPr lang="en-GB" dirty="0"/>
              <a:t>What is literacy?</a:t>
            </a:r>
          </a:p>
          <a:p>
            <a:endParaRPr lang="en-GB" dirty="0"/>
          </a:p>
        </p:txBody>
      </p:sp>
    </p:spTree>
    <p:extLst>
      <p:ext uri="{BB962C8B-B14F-4D97-AF65-F5344CB8AC3E}">
        <p14:creationId xmlns:p14="http://schemas.microsoft.com/office/powerpoint/2010/main" val="269006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E68B13-B46E-4294-B509-09AB52CFF24E}"/>
              </a:ext>
            </a:extLst>
          </p:cNvPr>
          <p:cNvPicPr>
            <a:picLocks noChangeAspect="1"/>
          </p:cNvPicPr>
          <p:nvPr/>
        </p:nvPicPr>
        <p:blipFill>
          <a:blip r:embed="rId2"/>
          <a:stretch>
            <a:fillRect/>
          </a:stretch>
        </p:blipFill>
        <p:spPr>
          <a:xfrm>
            <a:off x="2538412" y="663981"/>
            <a:ext cx="7115175" cy="5019675"/>
          </a:xfrm>
          <a:prstGeom prst="rect">
            <a:avLst/>
          </a:prstGeom>
        </p:spPr>
      </p:pic>
      <p:sp>
        <p:nvSpPr>
          <p:cNvPr id="3" name="TextBox 2">
            <a:extLst>
              <a:ext uri="{FF2B5EF4-FFF2-40B4-BE49-F238E27FC236}">
                <a16:creationId xmlns:a16="http://schemas.microsoft.com/office/drawing/2014/main" id="{50B3F36D-6A84-4269-9550-B925E5E6B39D}"/>
              </a:ext>
            </a:extLst>
          </p:cNvPr>
          <p:cNvSpPr txBox="1"/>
          <p:nvPr/>
        </p:nvSpPr>
        <p:spPr>
          <a:xfrm>
            <a:off x="8346558" y="5683656"/>
            <a:ext cx="2052084" cy="369332"/>
          </a:xfrm>
          <a:prstGeom prst="rect">
            <a:avLst/>
          </a:prstGeom>
          <a:noFill/>
        </p:spPr>
        <p:txBody>
          <a:bodyPr wrap="square" rtlCol="0">
            <a:spAutoFit/>
          </a:bodyPr>
          <a:lstStyle/>
          <a:p>
            <a:r>
              <a:rPr lang="en-GB" dirty="0"/>
              <a:t>(Wong, 2021)</a:t>
            </a:r>
          </a:p>
        </p:txBody>
      </p:sp>
    </p:spTree>
    <p:extLst>
      <p:ext uri="{BB962C8B-B14F-4D97-AF65-F5344CB8AC3E}">
        <p14:creationId xmlns:p14="http://schemas.microsoft.com/office/powerpoint/2010/main" val="983193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1B6E75-F031-D11D-320F-77683F8C9158}"/>
              </a:ext>
            </a:extLst>
          </p:cNvPr>
          <p:cNvSpPr txBox="1"/>
          <p:nvPr/>
        </p:nvSpPr>
        <p:spPr>
          <a:xfrm>
            <a:off x="255340" y="252642"/>
            <a:ext cx="4339988" cy="584775"/>
          </a:xfrm>
          <a:prstGeom prst="rect">
            <a:avLst/>
          </a:prstGeom>
          <a:noFill/>
        </p:spPr>
        <p:txBody>
          <a:bodyPr wrap="square" rtlCol="0">
            <a:spAutoFit/>
          </a:bodyPr>
          <a:lstStyle/>
          <a:p>
            <a:r>
              <a:rPr lang="en-GB" sz="3200" dirty="0"/>
              <a:t>What is literacy?</a:t>
            </a:r>
          </a:p>
        </p:txBody>
      </p:sp>
      <p:sp>
        <p:nvSpPr>
          <p:cNvPr id="5" name="TextBox 4">
            <a:extLst>
              <a:ext uri="{FF2B5EF4-FFF2-40B4-BE49-F238E27FC236}">
                <a16:creationId xmlns:a16="http://schemas.microsoft.com/office/drawing/2014/main" id="{23EEF66F-4AEE-43CA-A029-91C2FC35F607}"/>
              </a:ext>
            </a:extLst>
          </p:cNvPr>
          <p:cNvSpPr txBox="1"/>
          <p:nvPr/>
        </p:nvSpPr>
        <p:spPr>
          <a:xfrm>
            <a:off x="1807535" y="1988288"/>
            <a:ext cx="8610600" cy="3262432"/>
          </a:xfrm>
          <a:prstGeom prst="rect">
            <a:avLst/>
          </a:prstGeom>
          <a:noFill/>
        </p:spPr>
        <p:txBody>
          <a:bodyPr wrap="square" rtlCol="0">
            <a:spAutoFit/>
          </a:bodyPr>
          <a:lstStyle/>
          <a:p>
            <a:pPr algn="ctr"/>
            <a:r>
              <a:rPr lang="en-GB" sz="4000" dirty="0"/>
              <a:t>Beliefs about language are tied up with beliefs about moral ways to live. </a:t>
            </a:r>
          </a:p>
          <a:p>
            <a:pPr algn="ctr"/>
            <a:endParaRPr lang="en-GB" sz="4000" dirty="0"/>
          </a:p>
          <a:p>
            <a:pPr algn="ctr"/>
            <a:r>
              <a:rPr lang="en-GB" sz="4000" dirty="0"/>
              <a:t>										(McEnery, 2006)</a:t>
            </a:r>
          </a:p>
          <a:p>
            <a:pPr algn="ctr"/>
            <a:r>
              <a:rPr lang="en-GB" sz="2800" dirty="0"/>
              <a:t>									</a:t>
            </a:r>
            <a:endParaRPr lang="en-GB" dirty="0"/>
          </a:p>
          <a:p>
            <a:r>
              <a:rPr lang="en-GB" dirty="0"/>
              <a:t> </a:t>
            </a:r>
          </a:p>
        </p:txBody>
      </p:sp>
    </p:spTree>
    <p:extLst>
      <p:ext uri="{BB962C8B-B14F-4D97-AF65-F5344CB8AC3E}">
        <p14:creationId xmlns:p14="http://schemas.microsoft.com/office/powerpoint/2010/main" val="1646289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1B6E75-F031-D11D-320F-77683F8C9158}"/>
              </a:ext>
            </a:extLst>
          </p:cNvPr>
          <p:cNvSpPr txBox="1"/>
          <p:nvPr/>
        </p:nvSpPr>
        <p:spPr>
          <a:xfrm>
            <a:off x="223442" y="263274"/>
            <a:ext cx="4339988" cy="584775"/>
          </a:xfrm>
          <a:prstGeom prst="rect">
            <a:avLst/>
          </a:prstGeom>
          <a:noFill/>
        </p:spPr>
        <p:txBody>
          <a:bodyPr wrap="square" rtlCol="0">
            <a:spAutoFit/>
          </a:bodyPr>
          <a:lstStyle/>
          <a:p>
            <a:r>
              <a:rPr lang="en-GB" sz="3200" dirty="0"/>
              <a:t>What is literacy?</a:t>
            </a:r>
          </a:p>
        </p:txBody>
      </p:sp>
      <p:sp>
        <p:nvSpPr>
          <p:cNvPr id="3" name="Rectangle 2">
            <a:extLst>
              <a:ext uri="{FF2B5EF4-FFF2-40B4-BE49-F238E27FC236}">
                <a16:creationId xmlns:a16="http://schemas.microsoft.com/office/drawing/2014/main" id="{DB2AC9C2-149B-4B7D-9B94-298CA302CAED}"/>
              </a:ext>
            </a:extLst>
          </p:cNvPr>
          <p:cNvSpPr/>
          <p:nvPr/>
        </p:nvSpPr>
        <p:spPr>
          <a:xfrm>
            <a:off x="1587796" y="2062717"/>
            <a:ext cx="9016408" cy="2554545"/>
          </a:xfrm>
          <a:prstGeom prst="rect">
            <a:avLst/>
          </a:prstGeom>
        </p:spPr>
        <p:txBody>
          <a:bodyPr wrap="square">
            <a:spAutoFit/>
          </a:bodyPr>
          <a:lstStyle/>
          <a:p>
            <a:pPr algn="ctr"/>
            <a:r>
              <a:rPr lang="en-GB" sz="4000" dirty="0"/>
              <a:t>Literacy is the ability to read, write, speak and listen in a way that lets us communicate effectively and make sense of the world.</a:t>
            </a:r>
          </a:p>
        </p:txBody>
      </p:sp>
      <p:pic>
        <p:nvPicPr>
          <p:cNvPr id="4" name="Picture 3">
            <a:extLst>
              <a:ext uri="{FF2B5EF4-FFF2-40B4-BE49-F238E27FC236}">
                <a16:creationId xmlns:a16="http://schemas.microsoft.com/office/drawing/2014/main" id="{055EA385-FD8B-4BA2-A29D-D2C8DADAA95F}"/>
              </a:ext>
            </a:extLst>
          </p:cNvPr>
          <p:cNvPicPr>
            <a:picLocks noChangeAspect="1"/>
          </p:cNvPicPr>
          <p:nvPr/>
        </p:nvPicPr>
        <p:blipFill>
          <a:blip r:embed="rId2"/>
          <a:stretch>
            <a:fillRect/>
          </a:stretch>
        </p:blipFill>
        <p:spPr>
          <a:xfrm>
            <a:off x="10396761" y="4429366"/>
            <a:ext cx="1795239" cy="1838498"/>
          </a:xfrm>
          <a:prstGeom prst="rect">
            <a:avLst/>
          </a:prstGeom>
        </p:spPr>
      </p:pic>
    </p:spTree>
    <p:extLst>
      <p:ext uri="{BB962C8B-B14F-4D97-AF65-F5344CB8AC3E}">
        <p14:creationId xmlns:p14="http://schemas.microsoft.com/office/powerpoint/2010/main" val="131836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956DF05-2A58-1DAF-5A9B-13C317789066}"/>
              </a:ext>
            </a:extLst>
          </p:cNvPr>
          <p:cNvGraphicFramePr/>
          <p:nvPr>
            <p:extLst>
              <p:ext uri="{D42A27DB-BD31-4B8C-83A1-F6EECF244321}">
                <p14:modId xmlns:p14="http://schemas.microsoft.com/office/powerpoint/2010/main" val="3866425869"/>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5654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E46B4-1D66-4D18-A653-05FFECF498D8}"/>
              </a:ext>
            </a:extLst>
          </p:cNvPr>
          <p:cNvSpPr>
            <a:spLocks noGrp="1"/>
          </p:cNvSpPr>
          <p:nvPr>
            <p:ph type="title"/>
          </p:nvPr>
        </p:nvSpPr>
        <p:spPr>
          <a:xfrm>
            <a:off x="507242" y="0"/>
            <a:ext cx="11177516" cy="1676299"/>
          </a:xfrm>
        </p:spPr>
        <p:txBody>
          <a:bodyPr>
            <a:normAutofit fontScale="90000"/>
          </a:bodyPr>
          <a:lstStyle/>
          <a:p>
            <a:r>
              <a:rPr lang="en-GB" dirty="0"/>
              <a:t>How have you experienced speaking and listening modelled and developed in your subject discipline</a:t>
            </a:r>
          </a:p>
        </p:txBody>
      </p:sp>
      <p:sp>
        <p:nvSpPr>
          <p:cNvPr id="3" name="Content Placeholder 2">
            <a:extLst>
              <a:ext uri="{FF2B5EF4-FFF2-40B4-BE49-F238E27FC236}">
                <a16:creationId xmlns:a16="http://schemas.microsoft.com/office/drawing/2014/main" id="{ED2A87FF-C6CE-47BD-80BF-D21A362FA722}"/>
              </a:ext>
            </a:extLst>
          </p:cNvPr>
          <p:cNvSpPr>
            <a:spLocks noGrp="1"/>
          </p:cNvSpPr>
          <p:nvPr>
            <p:ph idx="1"/>
          </p:nvPr>
        </p:nvSpPr>
        <p:spPr>
          <a:xfrm>
            <a:off x="1097280" y="2843176"/>
            <a:ext cx="10058400" cy="3267075"/>
          </a:xfrm>
        </p:spPr>
        <p:txBody>
          <a:bodyPr/>
          <a:lstStyle/>
          <a:p>
            <a:endParaRPr lang="en-GB" dirty="0"/>
          </a:p>
          <a:p>
            <a:pPr>
              <a:buFont typeface="Wingdings" panose="05000000000000000000" pitchFamily="2" charset="2"/>
              <a:buChar char="Ø"/>
            </a:pPr>
            <a:r>
              <a:rPr lang="en-GB" sz="4000" dirty="0"/>
              <a:t>Lessons you have observed?</a:t>
            </a:r>
          </a:p>
          <a:p>
            <a:pPr>
              <a:buFont typeface="Wingdings" panose="05000000000000000000" pitchFamily="2" charset="2"/>
              <a:buChar char="Ø"/>
            </a:pPr>
            <a:r>
              <a:rPr lang="en-GB" sz="4000" dirty="0"/>
              <a:t>Lessons you have taught?</a:t>
            </a:r>
          </a:p>
        </p:txBody>
      </p:sp>
      <p:pic>
        <p:nvPicPr>
          <p:cNvPr id="4" name="Picture 3">
            <a:extLst>
              <a:ext uri="{FF2B5EF4-FFF2-40B4-BE49-F238E27FC236}">
                <a16:creationId xmlns:a16="http://schemas.microsoft.com/office/drawing/2014/main" id="{B90748E1-9151-48B6-A88A-FEDA5AD881BF}"/>
              </a:ext>
            </a:extLst>
          </p:cNvPr>
          <p:cNvPicPr>
            <a:picLocks noChangeAspect="1"/>
          </p:cNvPicPr>
          <p:nvPr/>
        </p:nvPicPr>
        <p:blipFill>
          <a:blip r:embed="rId2"/>
          <a:stretch>
            <a:fillRect/>
          </a:stretch>
        </p:blipFill>
        <p:spPr>
          <a:xfrm>
            <a:off x="7693321" y="2954411"/>
            <a:ext cx="4248150" cy="3267075"/>
          </a:xfrm>
          <a:prstGeom prst="rect">
            <a:avLst/>
          </a:prstGeom>
        </p:spPr>
      </p:pic>
    </p:spTree>
    <p:extLst>
      <p:ext uri="{BB962C8B-B14F-4D97-AF65-F5344CB8AC3E}">
        <p14:creationId xmlns:p14="http://schemas.microsoft.com/office/powerpoint/2010/main" val="2633033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EEBAEF-2CB7-4A06-BC38-72CC2894AAF4}"/>
              </a:ext>
            </a:extLst>
          </p:cNvPr>
          <p:cNvSpPr/>
          <p:nvPr/>
        </p:nvSpPr>
        <p:spPr>
          <a:xfrm>
            <a:off x="5196840" y="1236761"/>
            <a:ext cx="6096000" cy="4247317"/>
          </a:xfrm>
          <a:prstGeom prst="rect">
            <a:avLst/>
          </a:prstGeom>
        </p:spPr>
        <p:txBody>
          <a:bodyPr>
            <a:spAutoFit/>
          </a:bodyPr>
          <a:lstStyle/>
          <a:p>
            <a:r>
              <a:rPr lang="en-GB" dirty="0"/>
              <a:t>• thinking out loud, modelling new language for children</a:t>
            </a:r>
          </a:p>
          <a:p>
            <a:r>
              <a:rPr lang="en-GB" dirty="0"/>
              <a:t>• paying close attention to what the children say</a:t>
            </a:r>
          </a:p>
          <a:p>
            <a:r>
              <a:rPr lang="en-GB" dirty="0"/>
              <a:t>• rephrasing and extending what the children say</a:t>
            </a:r>
          </a:p>
          <a:p>
            <a:r>
              <a:rPr lang="en-GB" dirty="0"/>
              <a:t>• validating the children’s attempts at using new vocabulary and grammar by</a:t>
            </a:r>
          </a:p>
          <a:p>
            <a:r>
              <a:rPr lang="en-GB" dirty="0"/>
              <a:t>rephrasing what children say if necessary</a:t>
            </a:r>
          </a:p>
          <a:p>
            <a:r>
              <a:rPr lang="en-GB" dirty="0"/>
              <a:t>• asking closed and open questions</a:t>
            </a:r>
          </a:p>
          <a:p>
            <a:r>
              <a:rPr lang="en-GB" dirty="0"/>
              <a:t>• answering the children’s questions</a:t>
            </a:r>
          </a:p>
          <a:p>
            <a:r>
              <a:rPr lang="en-GB" dirty="0"/>
              <a:t>• explaining why things happen</a:t>
            </a:r>
          </a:p>
          <a:p>
            <a:r>
              <a:rPr lang="en-GB" dirty="0"/>
              <a:t>• deliberately connecting current and past events (‘Do you remember when…?’)</a:t>
            </a:r>
          </a:p>
          <a:p>
            <a:r>
              <a:rPr lang="en-GB" dirty="0"/>
              <a:t>• providing models of accurate grammar</a:t>
            </a:r>
          </a:p>
          <a:p>
            <a:r>
              <a:rPr lang="en-GB" dirty="0"/>
              <a:t>• extending children’s vocabulary and explaining new words</a:t>
            </a:r>
          </a:p>
          <a:p>
            <a:r>
              <a:rPr lang="en-GB" dirty="0"/>
              <a:t>• connecting one idea or action to another</a:t>
            </a:r>
          </a:p>
          <a:p>
            <a:r>
              <a:rPr lang="en-GB" dirty="0"/>
              <a:t>• helping children to articulate ideas in well-formed sentences.</a:t>
            </a:r>
          </a:p>
        </p:txBody>
      </p:sp>
      <p:sp>
        <p:nvSpPr>
          <p:cNvPr id="3" name="Title 2">
            <a:extLst>
              <a:ext uri="{FF2B5EF4-FFF2-40B4-BE49-F238E27FC236}">
                <a16:creationId xmlns:a16="http://schemas.microsoft.com/office/drawing/2014/main" id="{D6D605D7-DE1E-4B3A-ADA0-41DDF838FC8B}"/>
              </a:ext>
            </a:extLst>
          </p:cNvPr>
          <p:cNvSpPr>
            <a:spLocks noGrp="1"/>
          </p:cNvSpPr>
          <p:nvPr>
            <p:ph type="title"/>
          </p:nvPr>
        </p:nvSpPr>
        <p:spPr>
          <a:xfrm>
            <a:off x="457200" y="594359"/>
            <a:ext cx="3200400" cy="1691641"/>
          </a:xfrm>
        </p:spPr>
        <p:txBody>
          <a:bodyPr/>
          <a:lstStyle/>
          <a:p>
            <a:r>
              <a:rPr lang="en-GB" dirty="0"/>
              <a:t>Back-and-forth interactions with children…</a:t>
            </a:r>
          </a:p>
        </p:txBody>
      </p:sp>
      <p:sp>
        <p:nvSpPr>
          <p:cNvPr id="4" name="Content Placeholder 3">
            <a:extLst>
              <a:ext uri="{FF2B5EF4-FFF2-40B4-BE49-F238E27FC236}">
                <a16:creationId xmlns:a16="http://schemas.microsoft.com/office/drawing/2014/main" id="{2C0E1B09-D1C7-483C-AE03-9C7F8C635C06}"/>
              </a:ext>
            </a:extLst>
          </p:cNvPr>
          <p:cNvSpPr>
            <a:spLocks noGrp="1"/>
          </p:cNvSpPr>
          <p:nvPr>
            <p:ph idx="1"/>
          </p:nvPr>
        </p:nvSpPr>
        <p:spPr/>
        <p:txBody>
          <a:bodyPr/>
          <a:lstStyle/>
          <a:p>
            <a:endParaRPr lang="en-GB" dirty="0"/>
          </a:p>
        </p:txBody>
      </p:sp>
      <p:sp>
        <p:nvSpPr>
          <p:cNvPr id="5" name="Text Placeholder 4">
            <a:extLst>
              <a:ext uri="{FF2B5EF4-FFF2-40B4-BE49-F238E27FC236}">
                <a16:creationId xmlns:a16="http://schemas.microsoft.com/office/drawing/2014/main" id="{35FF929B-F56B-4A69-AEE2-CBAE230E5F93}"/>
              </a:ext>
            </a:extLst>
          </p:cNvPr>
          <p:cNvSpPr>
            <a:spLocks noGrp="1"/>
          </p:cNvSpPr>
          <p:nvPr>
            <p:ph type="body" sz="half" idx="2"/>
          </p:nvPr>
        </p:nvSpPr>
        <p:spPr/>
        <p:txBody>
          <a:bodyPr/>
          <a:lstStyle/>
          <a:p>
            <a:r>
              <a:rPr lang="en-GB" dirty="0"/>
              <a:t>…</a:t>
            </a:r>
            <a:r>
              <a:rPr lang="en-GB" sz="3600" dirty="0"/>
              <a:t>Form the foundations for language and cognitive development</a:t>
            </a:r>
            <a:endParaRPr lang="en-GB" dirty="0"/>
          </a:p>
        </p:txBody>
      </p:sp>
      <p:sp>
        <p:nvSpPr>
          <p:cNvPr id="6" name="TextBox 5">
            <a:extLst>
              <a:ext uri="{FF2B5EF4-FFF2-40B4-BE49-F238E27FC236}">
                <a16:creationId xmlns:a16="http://schemas.microsoft.com/office/drawing/2014/main" id="{40D9E614-CE4E-4CE0-B7B9-30D5875A11AA}"/>
              </a:ext>
            </a:extLst>
          </p:cNvPr>
          <p:cNvSpPr txBox="1"/>
          <p:nvPr/>
        </p:nvSpPr>
        <p:spPr>
          <a:xfrm>
            <a:off x="9346019" y="5989320"/>
            <a:ext cx="1946821" cy="646331"/>
          </a:xfrm>
          <a:prstGeom prst="rect">
            <a:avLst/>
          </a:prstGeom>
          <a:noFill/>
        </p:spPr>
        <p:txBody>
          <a:bodyPr wrap="square" rtlCol="0">
            <a:spAutoFit/>
          </a:bodyPr>
          <a:lstStyle/>
          <a:p>
            <a:r>
              <a:rPr lang="en-GB" dirty="0"/>
              <a:t>(DfE, 2023, p.23)</a:t>
            </a:r>
          </a:p>
          <a:p>
            <a:endParaRPr lang="en-GB" dirty="0"/>
          </a:p>
        </p:txBody>
      </p:sp>
    </p:spTree>
    <p:extLst>
      <p:ext uri="{BB962C8B-B14F-4D97-AF65-F5344CB8AC3E}">
        <p14:creationId xmlns:p14="http://schemas.microsoft.com/office/powerpoint/2010/main" val="4004513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60B8B0-3F09-4F20-BEC7-CF32BE760F04}"/>
              </a:ext>
            </a:extLst>
          </p:cNvPr>
          <p:cNvSpPr txBox="1"/>
          <p:nvPr/>
        </p:nvSpPr>
        <p:spPr>
          <a:xfrm>
            <a:off x="2796363" y="1967023"/>
            <a:ext cx="5146158" cy="2434856"/>
          </a:xfrm>
          <a:prstGeom prst="rect">
            <a:avLst/>
          </a:prstGeom>
          <a:noFill/>
        </p:spPr>
        <p:txBody>
          <a:bodyPr wrap="square" rtlCol="0">
            <a:spAutoFit/>
          </a:bodyPr>
          <a:lstStyle/>
          <a:p>
            <a:endParaRPr lang="en-GB" dirty="0"/>
          </a:p>
        </p:txBody>
      </p:sp>
      <p:pic>
        <p:nvPicPr>
          <p:cNvPr id="3" name="Picture 2">
            <a:extLst>
              <a:ext uri="{FF2B5EF4-FFF2-40B4-BE49-F238E27FC236}">
                <a16:creationId xmlns:a16="http://schemas.microsoft.com/office/drawing/2014/main" id="{2138D4DB-6C45-41CE-95D3-BC89F9230C4B}"/>
              </a:ext>
            </a:extLst>
          </p:cNvPr>
          <p:cNvPicPr>
            <a:picLocks noChangeAspect="1"/>
          </p:cNvPicPr>
          <p:nvPr/>
        </p:nvPicPr>
        <p:blipFill>
          <a:blip r:embed="rId2"/>
          <a:stretch>
            <a:fillRect/>
          </a:stretch>
        </p:blipFill>
        <p:spPr>
          <a:xfrm rot="158713">
            <a:off x="4329663" y="969153"/>
            <a:ext cx="3041856" cy="2996791"/>
          </a:xfrm>
          <a:prstGeom prst="rect">
            <a:avLst/>
          </a:prstGeom>
        </p:spPr>
      </p:pic>
      <p:sp>
        <p:nvSpPr>
          <p:cNvPr id="4" name="TextBox 3">
            <a:extLst>
              <a:ext uri="{FF2B5EF4-FFF2-40B4-BE49-F238E27FC236}">
                <a16:creationId xmlns:a16="http://schemas.microsoft.com/office/drawing/2014/main" id="{913707CF-F104-4687-991A-160739A3CC37}"/>
              </a:ext>
            </a:extLst>
          </p:cNvPr>
          <p:cNvSpPr txBox="1"/>
          <p:nvPr/>
        </p:nvSpPr>
        <p:spPr>
          <a:xfrm>
            <a:off x="2052084" y="4637349"/>
            <a:ext cx="7814930" cy="830997"/>
          </a:xfrm>
          <a:prstGeom prst="rect">
            <a:avLst/>
          </a:prstGeom>
          <a:noFill/>
        </p:spPr>
        <p:txBody>
          <a:bodyPr wrap="square" rtlCol="0">
            <a:spAutoFit/>
          </a:bodyPr>
          <a:lstStyle/>
          <a:p>
            <a:pPr algn="ctr"/>
            <a:r>
              <a:rPr lang="en-GB" sz="4800" dirty="0"/>
              <a:t>The importance of reading </a:t>
            </a:r>
          </a:p>
        </p:txBody>
      </p:sp>
    </p:spTree>
    <p:extLst>
      <p:ext uri="{BB962C8B-B14F-4D97-AF65-F5344CB8AC3E}">
        <p14:creationId xmlns:p14="http://schemas.microsoft.com/office/powerpoint/2010/main" val="858742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0407-7266-46FF-8CD0-1DBA3E3E50B3}"/>
              </a:ext>
            </a:extLst>
          </p:cNvPr>
          <p:cNvSpPr>
            <a:spLocks noGrp="1"/>
          </p:cNvSpPr>
          <p:nvPr>
            <p:ph type="title"/>
          </p:nvPr>
        </p:nvSpPr>
        <p:spPr>
          <a:xfrm>
            <a:off x="1066800" y="747748"/>
            <a:ext cx="10058400" cy="836803"/>
          </a:xfrm>
        </p:spPr>
        <p:txBody>
          <a:bodyPr/>
          <a:lstStyle/>
          <a:p>
            <a:r>
              <a:rPr lang="en-GB" dirty="0"/>
              <a:t>The simple view of reading</a:t>
            </a:r>
          </a:p>
        </p:txBody>
      </p:sp>
      <p:sp>
        <p:nvSpPr>
          <p:cNvPr id="3" name="Content Placeholder 2">
            <a:extLst>
              <a:ext uri="{FF2B5EF4-FFF2-40B4-BE49-F238E27FC236}">
                <a16:creationId xmlns:a16="http://schemas.microsoft.com/office/drawing/2014/main" id="{ADC869E7-A348-4D60-9D76-40E029226AB3}"/>
              </a:ext>
            </a:extLst>
          </p:cNvPr>
          <p:cNvSpPr>
            <a:spLocks noGrp="1"/>
          </p:cNvSpPr>
          <p:nvPr>
            <p:ph idx="1"/>
          </p:nvPr>
        </p:nvSpPr>
        <p:spPr>
          <a:xfrm>
            <a:off x="1097280" y="2349796"/>
            <a:ext cx="10058400" cy="3498112"/>
          </a:xfrm>
        </p:spPr>
        <p:txBody>
          <a:bodyPr>
            <a:normAutofit/>
          </a:bodyPr>
          <a:lstStyle/>
          <a:p>
            <a:r>
              <a:rPr lang="en-GB" sz="2800" dirty="0"/>
              <a:t>Reading has been described as the product of decoding and comprehension, a model first proposed by Gough and </a:t>
            </a:r>
            <a:r>
              <a:rPr lang="en-GB" sz="2800" dirty="0" err="1"/>
              <a:t>Tunmer</a:t>
            </a:r>
            <a:r>
              <a:rPr lang="en-GB" sz="2800" dirty="0"/>
              <a:t> in 1986, who called it the Simple View of Reading.</a:t>
            </a:r>
          </a:p>
          <a:p>
            <a:endParaRPr lang="en-GB" sz="2800" dirty="0"/>
          </a:p>
          <a:p>
            <a:r>
              <a:rPr lang="en-GB" sz="2800" dirty="0"/>
              <a:t>Children need both good </a:t>
            </a:r>
            <a:r>
              <a:rPr lang="en-GB" sz="2800" b="1" dirty="0"/>
              <a:t>language comprehension </a:t>
            </a:r>
            <a:r>
              <a:rPr lang="en-GB" sz="2800" dirty="0"/>
              <a:t>and good </a:t>
            </a:r>
            <a:r>
              <a:rPr lang="en-GB" sz="2800" b="1" dirty="0"/>
              <a:t>word reading </a:t>
            </a:r>
            <a:r>
              <a:rPr lang="en-GB" sz="2800" dirty="0"/>
              <a:t>to become good readers.</a:t>
            </a:r>
          </a:p>
        </p:txBody>
      </p:sp>
    </p:spTree>
    <p:extLst>
      <p:ext uri="{BB962C8B-B14F-4D97-AF65-F5344CB8AC3E}">
        <p14:creationId xmlns:p14="http://schemas.microsoft.com/office/powerpoint/2010/main" val="1712809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01268F-78E1-4B0D-BBD5-993B2BEC29AA}"/>
              </a:ext>
            </a:extLst>
          </p:cNvPr>
          <p:cNvPicPr>
            <a:picLocks noChangeAspect="1"/>
          </p:cNvPicPr>
          <p:nvPr/>
        </p:nvPicPr>
        <p:blipFill>
          <a:blip r:embed="rId2"/>
          <a:stretch>
            <a:fillRect/>
          </a:stretch>
        </p:blipFill>
        <p:spPr>
          <a:xfrm>
            <a:off x="1997096" y="903768"/>
            <a:ext cx="8197807" cy="4359151"/>
          </a:xfrm>
          <a:prstGeom prst="rect">
            <a:avLst/>
          </a:prstGeom>
        </p:spPr>
      </p:pic>
      <p:sp>
        <p:nvSpPr>
          <p:cNvPr id="5" name="TextBox 4">
            <a:extLst>
              <a:ext uri="{FF2B5EF4-FFF2-40B4-BE49-F238E27FC236}">
                <a16:creationId xmlns:a16="http://schemas.microsoft.com/office/drawing/2014/main" id="{2AC6F352-D72D-4159-A9BA-2856D004EC94}"/>
              </a:ext>
            </a:extLst>
          </p:cNvPr>
          <p:cNvSpPr txBox="1"/>
          <p:nvPr/>
        </p:nvSpPr>
        <p:spPr>
          <a:xfrm>
            <a:off x="10194903" y="5805376"/>
            <a:ext cx="1883683" cy="646331"/>
          </a:xfrm>
          <a:prstGeom prst="rect">
            <a:avLst/>
          </a:prstGeom>
          <a:noFill/>
        </p:spPr>
        <p:txBody>
          <a:bodyPr wrap="square" rtlCol="0">
            <a:spAutoFit/>
          </a:bodyPr>
          <a:lstStyle/>
          <a:p>
            <a:r>
              <a:rPr lang="en-GB" dirty="0"/>
              <a:t>(DfE, 2023, p.18)</a:t>
            </a:r>
          </a:p>
          <a:p>
            <a:endParaRPr lang="en-GB" dirty="0"/>
          </a:p>
        </p:txBody>
      </p:sp>
    </p:spTree>
    <p:extLst>
      <p:ext uri="{BB962C8B-B14F-4D97-AF65-F5344CB8AC3E}">
        <p14:creationId xmlns:p14="http://schemas.microsoft.com/office/powerpoint/2010/main" val="54085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036F-396F-4464-B97A-BFAD933472B8}"/>
              </a:ext>
            </a:extLst>
          </p:cNvPr>
          <p:cNvSpPr>
            <a:spLocks noGrp="1"/>
          </p:cNvSpPr>
          <p:nvPr>
            <p:ph type="title"/>
          </p:nvPr>
        </p:nvSpPr>
        <p:spPr>
          <a:xfrm>
            <a:off x="1097280" y="658743"/>
            <a:ext cx="10058400" cy="836803"/>
          </a:xfrm>
        </p:spPr>
        <p:txBody>
          <a:bodyPr>
            <a:normAutofit fontScale="90000"/>
          </a:bodyPr>
          <a:lstStyle/>
          <a:p>
            <a:r>
              <a:rPr lang="en-GB" dirty="0"/>
              <a:t>Supporting readers: What could be done?</a:t>
            </a:r>
          </a:p>
        </p:txBody>
      </p:sp>
      <p:pic>
        <p:nvPicPr>
          <p:cNvPr id="9" name="Content Placeholder 8" descr="Man">
            <a:extLst>
              <a:ext uri="{FF2B5EF4-FFF2-40B4-BE49-F238E27FC236}">
                <a16:creationId xmlns:a16="http://schemas.microsoft.com/office/drawing/2014/main" id="{D7E405A8-A405-423D-BC4D-A15195179DDD}"/>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28305" y="4278534"/>
            <a:ext cx="1494945" cy="1494945"/>
          </a:xfrm>
        </p:spPr>
      </p:pic>
      <p:pic>
        <p:nvPicPr>
          <p:cNvPr id="11" name="Graphic 10" descr="Woman">
            <a:extLst>
              <a:ext uri="{FF2B5EF4-FFF2-40B4-BE49-F238E27FC236}">
                <a16:creationId xmlns:a16="http://schemas.microsoft.com/office/drawing/2014/main" id="{69E1C188-A0AE-4B7F-BA4F-7C7E456F81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28306" y="2270351"/>
            <a:ext cx="1494944" cy="1494944"/>
          </a:xfrm>
          <a:prstGeom prst="rect">
            <a:avLst/>
          </a:prstGeom>
        </p:spPr>
      </p:pic>
      <p:sp>
        <p:nvSpPr>
          <p:cNvPr id="12" name="TextBox 11">
            <a:extLst>
              <a:ext uri="{FF2B5EF4-FFF2-40B4-BE49-F238E27FC236}">
                <a16:creationId xmlns:a16="http://schemas.microsoft.com/office/drawing/2014/main" id="{A074DAD3-10AB-47DC-B379-8D8D15D5DD1B}"/>
              </a:ext>
            </a:extLst>
          </p:cNvPr>
          <p:cNvSpPr txBox="1"/>
          <p:nvPr/>
        </p:nvSpPr>
        <p:spPr>
          <a:xfrm>
            <a:off x="3296093" y="2139568"/>
            <a:ext cx="7859587" cy="3970318"/>
          </a:xfrm>
          <a:prstGeom prst="rect">
            <a:avLst/>
          </a:prstGeom>
          <a:noFill/>
        </p:spPr>
        <p:txBody>
          <a:bodyPr wrap="square" rtlCol="0">
            <a:spAutoFit/>
          </a:bodyPr>
          <a:lstStyle/>
          <a:p>
            <a:r>
              <a:rPr lang="en-GB" dirty="0"/>
              <a:t>Mia and George are in Year 7, although they struggled with reading at primary school they did not receive the support they needed at KS2. </a:t>
            </a:r>
          </a:p>
          <a:p>
            <a:endParaRPr lang="en-GB" dirty="0"/>
          </a:p>
          <a:p>
            <a:r>
              <a:rPr lang="en-GB" dirty="0"/>
              <a:t>Mia and George are now faced with a huge amount of reading in every lesson – in one day their peers read about the Norman invasion in history, a supermarket visit in French, cell structure in biology and they read ‘Macbeth’ in English. Mia and George cannot achieve success at school because their progress depends upon their learning academic vocabulary – and this depends on their ability to decode new words rapidly. Their motivation to learn and attitude towards school are at the lowest possible level. They are demoralised and have become recalcitrant. They have no choice but to hide the fact they cannot read. George disrupts lessons so he can be sent out of class; Mia switches off in lessons and then copies her friend’s work. </a:t>
            </a:r>
          </a:p>
          <a:p>
            <a:endParaRPr lang="en-GB" dirty="0"/>
          </a:p>
        </p:txBody>
      </p:sp>
    </p:spTree>
    <p:extLst>
      <p:ext uri="{BB962C8B-B14F-4D97-AF65-F5344CB8AC3E}">
        <p14:creationId xmlns:p14="http://schemas.microsoft.com/office/powerpoint/2010/main" val="241344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800D99-54D2-44C1-A051-745576155E74}"/>
              </a:ext>
            </a:extLst>
          </p:cNvPr>
          <p:cNvPicPr>
            <a:picLocks noChangeAspect="1"/>
          </p:cNvPicPr>
          <p:nvPr/>
        </p:nvPicPr>
        <p:blipFill>
          <a:blip r:embed="rId2"/>
          <a:stretch>
            <a:fillRect/>
          </a:stretch>
        </p:blipFill>
        <p:spPr>
          <a:xfrm>
            <a:off x="861236" y="400381"/>
            <a:ext cx="6071191" cy="5883461"/>
          </a:xfrm>
          <a:prstGeom prst="rect">
            <a:avLst/>
          </a:prstGeom>
        </p:spPr>
      </p:pic>
      <p:sp>
        <p:nvSpPr>
          <p:cNvPr id="3" name="TextBox 2">
            <a:extLst>
              <a:ext uri="{FF2B5EF4-FFF2-40B4-BE49-F238E27FC236}">
                <a16:creationId xmlns:a16="http://schemas.microsoft.com/office/drawing/2014/main" id="{5807CF45-4503-4233-BCC3-B96F150E3ACA}"/>
              </a:ext>
            </a:extLst>
          </p:cNvPr>
          <p:cNvSpPr txBox="1"/>
          <p:nvPr/>
        </p:nvSpPr>
        <p:spPr>
          <a:xfrm>
            <a:off x="7889358" y="5816009"/>
            <a:ext cx="4476307" cy="646331"/>
          </a:xfrm>
          <a:prstGeom prst="rect">
            <a:avLst/>
          </a:prstGeom>
          <a:noFill/>
        </p:spPr>
        <p:txBody>
          <a:bodyPr wrap="square" rtlCol="0">
            <a:spAutoFit/>
          </a:bodyPr>
          <a:lstStyle/>
          <a:p>
            <a:r>
              <a:rPr lang="en-GB" dirty="0"/>
              <a:t>(DfE, 2023, p.76)</a:t>
            </a:r>
          </a:p>
          <a:p>
            <a:endParaRPr lang="en-GB" dirty="0"/>
          </a:p>
        </p:txBody>
      </p:sp>
    </p:spTree>
    <p:extLst>
      <p:ext uri="{BB962C8B-B14F-4D97-AF65-F5344CB8AC3E}">
        <p14:creationId xmlns:p14="http://schemas.microsoft.com/office/powerpoint/2010/main" val="700309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23E75-561A-4755-A868-23B898949781}"/>
              </a:ext>
            </a:extLst>
          </p:cNvPr>
          <p:cNvSpPr>
            <a:spLocks noGrp="1"/>
          </p:cNvSpPr>
          <p:nvPr>
            <p:ph type="title"/>
          </p:nvPr>
        </p:nvSpPr>
        <p:spPr>
          <a:xfrm>
            <a:off x="1097280" y="450376"/>
            <a:ext cx="10058400" cy="973281"/>
          </a:xfrm>
        </p:spPr>
        <p:txBody>
          <a:bodyPr>
            <a:noAutofit/>
          </a:bodyPr>
          <a:lstStyle/>
          <a:p>
            <a:br>
              <a:rPr lang="en-GB" sz="2400" dirty="0"/>
            </a:br>
            <a:br>
              <a:rPr lang="en-GB" sz="2400" dirty="0"/>
            </a:br>
            <a:r>
              <a:rPr lang="en-GB" sz="2400" dirty="0"/>
              <a:t>Reading 1: Machin, S., McNally, S., &amp; Viarengo, M. (2018) Changing how literacy is taught: Evidence on synthetic phonics. </a:t>
            </a:r>
            <a:r>
              <a:rPr lang="en-GB" sz="2400" i="1" dirty="0"/>
              <a:t>American Economic Journal: Economic Policy</a:t>
            </a:r>
            <a:r>
              <a:rPr lang="en-GB" sz="2400" dirty="0"/>
              <a:t>, 10(2), pp.217-241</a:t>
            </a:r>
          </a:p>
        </p:txBody>
      </p:sp>
      <p:sp>
        <p:nvSpPr>
          <p:cNvPr id="3" name="Content Placeholder 2">
            <a:extLst>
              <a:ext uri="{FF2B5EF4-FFF2-40B4-BE49-F238E27FC236}">
                <a16:creationId xmlns:a16="http://schemas.microsoft.com/office/drawing/2014/main" id="{F1DD44EF-D124-4AE9-9B79-A8E72D0D4DD3}"/>
              </a:ext>
            </a:extLst>
          </p:cNvPr>
          <p:cNvSpPr>
            <a:spLocks noGrp="1"/>
          </p:cNvSpPr>
          <p:nvPr>
            <p:ph idx="1"/>
          </p:nvPr>
        </p:nvSpPr>
        <p:spPr/>
        <p:txBody>
          <a:bodyPr/>
          <a:lstStyle/>
          <a:p>
            <a:pPr>
              <a:buFont typeface="Arial" panose="020B0604020202020204" pitchFamily="34" charset="0"/>
              <a:buChar char="•"/>
            </a:pPr>
            <a:r>
              <a:rPr lang="en-GB" sz="3600" dirty="0"/>
              <a:t>‘…it is more difficult to improve the reading scores for students who speak nonstandard English at home’ (Machin, McNally and </a:t>
            </a:r>
            <a:r>
              <a:rPr lang="en-GB" sz="3600" dirty="0" err="1"/>
              <a:t>Viarengo</a:t>
            </a:r>
            <a:r>
              <a:rPr lang="en-GB" sz="3600" dirty="0"/>
              <a:t>, 2018, p240)</a:t>
            </a:r>
          </a:p>
          <a:p>
            <a:pPr marL="0" indent="0">
              <a:buNone/>
            </a:pPr>
            <a:endParaRPr lang="en-GB" sz="3600" dirty="0"/>
          </a:p>
          <a:p>
            <a:pPr>
              <a:buFont typeface="Arial" panose="020B0604020202020204" pitchFamily="34" charset="0"/>
              <a:buChar char="•"/>
            </a:pPr>
            <a:r>
              <a:rPr lang="en-GB" sz="3600" dirty="0"/>
              <a:t>‘…closing literacy gaps based on disadvantage and (initial) language proficiency by family background’ (Machin, McNally and </a:t>
            </a:r>
            <a:r>
              <a:rPr lang="en-GB" sz="3600" dirty="0" err="1"/>
              <a:t>Viarengo</a:t>
            </a:r>
            <a:r>
              <a:rPr lang="en-GB" sz="3600" dirty="0"/>
              <a:t>, 2018, p240)</a:t>
            </a:r>
          </a:p>
          <a:p>
            <a:endParaRPr lang="en-GB" dirty="0"/>
          </a:p>
        </p:txBody>
      </p:sp>
    </p:spTree>
    <p:extLst>
      <p:ext uri="{BB962C8B-B14F-4D97-AF65-F5344CB8AC3E}">
        <p14:creationId xmlns:p14="http://schemas.microsoft.com/office/powerpoint/2010/main" val="2442595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44C5A9E5-0F35-4AA6-AF26-B90A2D47B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a book cover&#10;&#10;Description automatically generated">
            <a:extLst>
              <a:ext uri="{FF2B5EF4-FFF2-40B4-BE49-F238E27FC236}">
                <a16:creationId xmlns:a16="http://schemas.microsoft.com/office/drawing/2014/main" id="{177D9053-8974-3DDB-330A-C9935C163BEA}"/>
              </a:ext>
            </a:extLst>
          </p:cNvPr>
          <p:cNvPicPr>
            <a:picLocks noChangeAspect="1"/>
          </p:cNvPicPr>
          <p:nvPr/>
        </p:nvPicPr>
        <p:blipFill>
          <a:blip r:embed="rId2"/>
          <a:stretch>
            <a:fillRect/>
          </a:stretch>
        </p:blipFill>
        <p:spPr>
          <a:xfrm>
            <a:off x="1557378" y="643467"/>
            <a:ext cx="3463843" cy="5050225"/>
          </a:xfrm>
          <a:prstGeom prst="rect">
            <a:avLst/>
          </a:prstGeom>
        </p:spPr>
      </p:pic>
      <p:pic>
        <p:nvPicPr>
          <p:cNvPr id="3" name="Picture 2" descr="A close-up of a book cover&#10;&#10;Description automatically generated">
            <a:extLst>
              <a:ext uri="{FF2B5EF4-FFF2-40B4-BE49-F238E27FC236}">
                <a16:creationId xmlns:a16="http://schemas.microsoft.com/office/drawing/2014/main" id="{14D5B619-E80C-E4F1-5858-7BF6716A9C58}"/>
              </a:ext>
            </a:extLst>
          </p:cNvPr>
          <p:cNvPicPr>
            <a:picLocks noChangeAspect="1"/>
          </p:cNvPicPr>
          <p:nvPr/>
        </p:nvPicPr>
        <p:blipFill>
          <a:blip r:embed="rId3"/>
          <a:stretch>
            <a:fillRect/>
          </a:stretch>
        </p:blipFill>
        <p:spPr>
          <a:xfrm>
            <a:off x="7128495" y="643467"/>
            <a:ext cx="3548408" cy="5050225"/>
          </a:xfrm>
          <a:prstGeom prst="rect">
            <a:avLst/>
          </a:prstGeom>
        </p:spPr>
      </p:pic>
      <p:sp>
        <p:nvSpPr>
          <p:cNvPr id="17" name="Rectangle 11">
            <a:extLst>
              <a:ext uri="{FF2B5EF4-FFF2-40B4-BE49-F238E27FC236}">
                <a16:creationId xmlns:a16="http://schemas.microsoft.com/office/drawing/2014/main" id="{4D9DB69D-7E48-4FDF-806E-F0B4BF00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8" name="Rectangle 13">
            <a:extLst>
              <a:ext uri="{FF2B5EF4-FFF2-40B4-BE49-F238E27FC236}">
                <a16:creationId xmlns:a16="http://schemas.microsoft.com/office/drawing/2014/main" id="{846BF69C-4724-4F8D-8EA6-1487E9C9C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14596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62C53-5072-D6EC-D91E-C10A7B3AC62D}"/>
              </a:ext>
            </a:extLst>
          </p:cNvPr>
          <p:cNvSpPr>
            <a:spLocks noGrp="1"/>
          </p:cNvSpPr>
          <p:nvPr>
            <p:ph type="title"/>
          </p:nvPr>
        </p:nvSpPr>
        <p:spPr/>
        <p:txBody>
          <a:bodyPr/>
          <a:lstStyle/>
          <a:p>
            <a:r>
              <a:rPr lang="en-GB"/>
              <a:t>Problematising ‘gap’ discourses</a:t>
            </a:r>
            <a:endParaRPr lang="en-GB" dirty="0"/>
          </a:p>
        </p:txBody>
      </p:sp>
      <p:sp>
        <p:nvSpPr>
          <p:cNvPr id="3" name="Content Placeholder 2">
            <a:extLst>
              <a:ext uri="{FF2B5EF4-FFF2-40B4-BE49-F238E27FC236}">
                <a16:creationId xmlns:a16="http://schemas.microsoft.com/office/drawing/2014/main" id="{A6FC9721-58DC-C4A7-E38F-97CF3EEA0E81}"/>
              </a:ext>
            </a:extLst>
          </p:cNvPr>
          <p:cNvSpPr>
            <a:spLocks noGrp="1"/>
          </p:cNvSpPr>
          <p:nvPr>
            <p:ph idx="1"/>
          </p:nvPr>
        </p:nvSpPr>
        <p:spPr/>
        <p:txBody>
          <a:bodyPr/>
          <a:lstStyle/>
          <a:p>
            <a:endParaRPr lang="en-GB" dirty="0"/>
          </a:p>
        </p:txBody>
      </p:sp>
      <p:pic>
        <p:nvPicPr>
          <p:cNvPr id="5" name="Picture 4" descr="A screenshot of a video&#10;&#10;Description automatically generated">
            <a:hlinkClick r:id="rId2"/>
            <a:extLst>
              <a:ext uri="{FF2B5EF4-FFF2-40B4-BE49-F238E27FC236}">
                <a16:creationId xmlns:a16="http://schemas.microsoft.com/office/drawing/2014/main" id="{BA1386BD-3656-4EDA-61B0-BB328CB8FA69}"/>
              </a:ext>
            </a:extLst>
          </p:cNvPr>
          <p:cNvPicPr>
            <a:picLocks noChangeAspect="1"/>
          </p:cNvPicPr>
          <p:nvPr/>
        </p:nvPicPr>
        <p:blipFill>
          <a:blip r:embed="rId3"/>
          <a:stretch>
            <a:fillRect/>
          </a:stretch>
        </p:blipFill>
        <p:spPr>
          <a:xfrm>
            <a:off x="2161673" y="1894114"/>
            <a:ext cx="7868653" cy="4257543"/>
          </a:xfrm>
          <a:prstGeom prst="rect">
            <a:avLst/>
          </a:prstGeom>
        </p:spPr>
      </p:pic>
    </p:spTree>
    <p:extLst>
      <p:ext uri="{BB962C8B-B14F-4D97-AF65-F5344CB8AC3E}">
        <p14:creationId xmlns:p14="http://schemas.microsoft.com/office/powerpoint/2010/main" val="1984638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F5285B-B11E-E5CA-29F2-51F00077D0C7}"/>
              </a:ext>
            </a:extLst>
          </p:cNvPr>
          <p:cNvSpPr txBox="1"/>
          <p:nvPr/>
        </p:nvSpPr>
        <p:spPr>
          <a:xfrm>
            <a:off x="982639" y="1528550"/>
            <a:ext cx="10481480" cy="3539430"/>
          </a:xfrm>
          <a:prstGeom prst="rect">
            <a:avLst/>
          </a:prstGeom>
          <a:noFill/>
        </p:spPr>
        <p:txBody>
          <a:bodyPr wrap="square" rtlCol="0">
            <a:spAutoFit/>
          </a:bodyPr>
          <a:lstStyle/>
          <a:p>
            <a:r>
              <a:rPr lang="en-GB" sz="3200" dirty="0"/>
              <a:t>Word gap ideologies are rooted in deficit perspectives of language which claim that minoritised speakers do poorly in school not because of structural inequality but because of a cultural, cognitive and linguistic deficit located within the speakers, their families, and their communities</a:t>
            </a:r>
          </a:p>
          <a:p>
            <a:endParaRPr lang="en-GB" sz="3200" dirty="0"/>
          </a:p>
          <a:p>
            <a:r>
              <a:rPr lang="en-GB" sz="3200" dirty="0"/>
              <a:t>(Cushing, 2022, p.5) </a:t>
            </a:r>
          </a:p>
        </p:txBody>
      </p:sp>
    </p:spTree>
    <p:extLst>
      <p:ext uri="{BB962C8B-B14F-4D97-AF65-F5344CB8AC3E}">
        <p14:creationId xmlns:p14="http://schemas.microsoft.com/office/powerpoint/2010/main" val="3954421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E1EBF6-BE96-FD99-101E-28D31725CB89}"/>
              </a:ext>
            </a:extLst>
          </p:cNvPr>
          <p:cNvPicPr>
            <a:picLocks noChangeAspect="1"/>
          </p:cNvPicPr>
          <p:nvPr/>
        </p:nvPicPr>
        <p:blipFill>
          <a:blip r:embed="rId2"/>
          <a:stretch>
            <a:fillRect/>
          </a:stretch>
        </p:blipFill>
        <p:spPr>
          <a:xfrm>
            <a:off x="597691" y="603610"/>
            <a:ext cx="4295775" cy="3524250"/>
          </a:xfrm>
          <a:prstGeom prst="rect">
            <a:avLst/>
          </a:prstGeom>
        </p:spPr>
      </p:pic>
      <p:sp>
        <p:nvSpPr>
          <p:cNvPr id="5" name="TextBox 4">
            <a:extLst>
              <a:ext uri="{FF2B5EF4-FFF2-40B4-BE49-F238E27FC236}">
                <a16:creationId xmlns:a16="http://schemas.microsoft.com/office/drawing/2014/main" id="{D5851449-ECF2-3BAF-B7ED-2F83FF2C5DB5}"/>
              </a:ext>
            </a:extLst>
          </p:cNvPr>
          <p:cNvSpPr txBox="1"/>
          <p:nvPr/>
        </p:nvSpPr>
        <p:spPr>
          <a:xfrm>
            <a:off x="597691" y="4223455"/>
            <a:ext cx="6308782" cy="369332"/>
          </a:xfrm>
          <a:prstGeom prst="rect">
            <a:avLst/>
          </a:prstGeom>
          <a:noFill/>
        </p:spPr>
        <p:txBody>
          <a:bodyPr wrap="square">
            <a:spAutoFit/>
          </a:bodyPr>
          <a:lstStyle/>
          <a:p>
            <a:r>
              <a:rPr lang="en-GB" b="0" i="1" dirty="0">
                <a:effectLst/>
                <a:latin typeface="proxima-n-w01-reg"/>
              </a:rPr>
              <a:t>Guardian 2, 2</a:t>
            </a:r>
            <a:r>
              <a:rPr lang="en-GB" b="0" i="0" dirty="0">
                <a:effectLst/>
                <a:latin typeface="proxima-n-w01-reg"/>
              </a:rPr>
              <a:t>021, London UK, digital illustration</a:t>
            </a:r>
            <a:endParaRPr lang="en-GB" dirty="0"/>
          </a:p>
        </p:txBody>
      </p:sp>
      <p:pic>
        <p:nvPicPr>
          <p:cNvPr id="7" name="Picture 6">
            <a:extLst>
              <a:ext uri="{FF2B5EF4-FFF2-40B4-BE49-F238E27FC236}">
                <a16:creationId xmlns:a16="http://schemas.microsoft.com/office/drawing/2014/main" id="{FE6E871D-3928-5821-541F-7D767B620F23}"/>
              </a:ext>
            </a:extLst>
          </p:cNvPr>
          <p:cNvPicPr>
            <a:picLocks noChangeAspect="1"/>
          </p:cNvPicPr>
          <p:nvPr/>
        </p:nvPicPr>
        <p:blipFill>
          <a:blip r:embed="rId3"/>
          <a:stretch>
            <a:fillRect/>
          </a:stretch>
        </p:blipFill>
        <p:spPr>
          <a:xfrm>
            <a:off x="7563508" y="731443"/>
            <a:ext cx="3226412" cy="4658989"/>
          </a:xfrm>
          <a:prstGeom prst="rect">
            <a:avLst/>
          </a:prstGeom>
        </p:spPr>
      </p:pic>
      <p:sp>
        <p:nvSpPr>
          <p:cNvPr id="9" name="TextBox 8">
            <a:extLst>
              <a:ext uri="{FF2B5EF4-FFF2-40B4-BE49-F238E27FC236}">
                <a16:creationId xmlns:a16="http://schemas.microsoft.com/office/drawing/2014/main" id="{DE4E9CAD-2167-E718-2FEB-E424A81A2F7E}"/>
              </a:ext>
            </a:extLst>
          </p:cNvPr>
          <p:cNvSpPr txBox="1"/>
          <p:nvPr/>
        </p:nvSpPr>
        <p:spPr>
          <a:xfrm>
            <a:off x="6652181" y="5486027"/>
            <a:ext cx="6098344" cy="369332"/>
          </a:xfrm>
          <a:prstGeom prst="rect">
            <a:avLst/>
          </a:prstGeom>
          <a:noFill/>
        </p:spPr>
        <p:txBody>
          <a:bodyPr wrap="square">
            <a:spAutoFit/>
          </a:bodyPr>
          <a:lstStyle/>
          <a:p>
            <a:r>
              <a:rPr lang="en-GB" b="0" i="1" dirty="0">
                <a:effectLst/>
                <a:latin typeface="proxima-n-w01-reg"/>
              </a:rPr>
              <a:t>Worthless Speech, </a:t>
            </a:r>
            <a:r>
              <a:rPr lang="en-GB" b="0" i="0" dirty="0">
                <a:effectLst/>
                <a:latin typeface="proxima-n-w01-reg"/>
              </a:rPr>
              <a:t>2021, London UK, digital illustration</a:t>
            </a:r>
            <a:endParaRPr lang="en-GB" dirty="0"/>
          </a:p>
        </p:txBody>
      </p:sp>
      <p:sp>
        <p:nvSpPr>
          <p:cNvPr id="10" name="TextBox 9">
            <a:extLst>
              <a:ext uri="{FF2B5EF4-FFF2-40B4-BE49-F238E27FC236}">
                <a16:creationId xmlns:a16="http://schemas.microsoft.com/office/drawing/2014/main" id="{5343E303-EBF6-897E-0EC1-10A632CE9E4D}"/>
              </a:ext>
            </a:extLst>
          </p:cNvPr>
          <p:cNvSpPr txBox="1"/>
          <p:nvPr/>
        </p:nvSpPr>
        <p:spPr>
          <a:xfrm>
            <a:off x="274513" y="5773472"/>
            <a:ext cx="4942129" cy="646331"/>
          </a:xfrm>
          <a:prstGeom prst="rect">
            <a:avLst/>
          </a:prstGeom>
          <a:noFill/>
        </p:spPr>
        <p:txBody>
          <a:bodyPr wrap="square" rtlCol="0">
            <a:spAutoFit/>
          </a:bodyPr>
          <a:lstStyle/>
          <a:p>
            <a:r>
              <a:rPr lang="en-GB" dirty="0"/>
              <a:t>Works by Wendy Wong (https://www.ssnartsprize.com/wendy)</a:t>
            </a:r>
          </a:p>
        </p:txBody>
      </p:sp>
    </p:spTree>
    <p:extLst>
      <p:ext uri="{BB962C8B-B14F-4D97-AF65-F5344CB8AC3E}">
        <p14:creationId xmlns:p14="http://schemas.microsoft.com/office/powerpoint/2010/main" val="314203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37C52-9F59-B898-2FA3-DD698382B0A0}"/>
              </a:ext>
            </a:extLst>
          </p:cNvPr>
          <p:cNvSpPr>
            <a:spLocks noGrp="1"/>
          </p:cNvSpPr>
          <p:nvPr>
            <p:ph type="title"/>
          </p:nvPr>
        </p:nvSpPr>
        <p:spPr>
          <a:xfrm>
            <a:off x="1097280" y="595423"/>
            <a:ext cx="10058400" cy="925033"/>
          </a:xfrm>
        </p:spPr>
        <p:txBody>
          <a:bodyPr>
            <a:normAutofit/>
          </a:bodyPr>
          <a:lstStyle/>
          <a:p>
            <a:r>
              <a:rPr lang="en-GB" dirty="0"/>
              <a:t>The access paradox </a:t>
            </a:r>
          </a:p>
        </p:txBody>
      </p:sp>
      <p:sp>
        <p:nvSpPr>
          <p:cNvPr id="3" name="Content Placeholder 2">
            <a:extLst>
              <a:ext uri="{FF2B5EF4-FFF2-40B4-BE49-F238E27FC236}">
                <a16:creationId xmlns:a16="http://schemas.microsoft.com/office/drawing/2014/main" id="{E8A980FF-62E2-2206-5BC7-7384FD64092D}"/>
              </a:ext>
            </a:extLst>
          </p:cNvPr>
          <p:cNvSpPr>
            <a:spLocks noGrp="1"/>
          </p:cNvSpPr>
          <p:nvPr>
            <p:ph idx="1"/>
          </p:nvPr>
        </p:nvSpPr>
        <p:spPr/>
        <p:txBody>
          <a:bodyPr>
            <a:normAutofit lnSpcReduction="10000"/>
          </a:bodyPr>
          <a:lstStyle/>
          <a:p>
            <a:r>
              <a:rPr lang="en-GB" sz="3200" dirty="0"/>
              <a:t>Access to English provides students with ‘linguistic capital’ (Bourdieu, 1991)</a:t>
            </a:r>
          </a:p>
          <a:p>
            <a:endParaRPr lang="en-GB" sz="3200" dirty="0"/>
          </a:p>
          <a:p>
            <a:r>
              <a:rPr lang="en-GB" sz="3200" dirty="0"/>
              <a:t>‘If you provide more people with access to the dominant variety of the dominant language, you contribute to perpetuating and increasing its dominance. If, on the other hand, you deny students access, you perpetuate their marginalisation in a society that continues to recognise this language as a mark of distinction.’ (</a:t>
            </a:r>
            <a:r>
              <a:rPr lang="en-GB" sz="3200" dirty="0" err="1"/>
              <a:t>Janks</a:t>
            </a:r>
            <a:r>
              <a:rPr lang="en-GB" sz="3200" dirty="0"/>
              <a:t>, 2010)</a:t>
            </a:r>
          </a:p>
        </p:txBody>
      </p:sp>
    </p:spTree>
    <p:extLst>
      <p:ext uri="{BB962C8B-B14F-4D97-AF65-F5344CB8AC3E}">
        <p14:creationId xmlns:p14="http://schemas.microsoft.com/office/powerpoint/2010/main" val="1962047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63844" y="2052694"/>
            <a:ext cx="10864312" cy="5241884"/>
          </a:xfrm>
          <a:prstGeom prst="rect">
            <a:avLst/>
          </a:prstGeom>
        </p:spPr>
        <p:txBody>
          <a:bodyPr vert="horz" wrap="square" lIns="0" tIns="12065" rIns="0" bIns="0" rtlCol="0" anchor="t">
            <a:spAutoFit/>
          </a:bodyPr>
          <a:lstStyle/>
          <a:p>
            <a:pPr marL="168910" marR="5080" algn="ctr">
              <a:lnSpc>
                <a:spcPct val="120000"/>
              </a:lnSpc>
              <a:buClr>
                <a:srgbClr val="00B0F0"/>
              </a:buClr>
              <a:tabLst>
                <a:tab pos="456565" algn="l"/>
              </a:tabLst>
            </a:pPr>
            <a:r>
              <a:rPr lang="en-GB" sz="7200" spc="-5" dirty="0">
                <a:solidFill>
                  <a:srgbClr val="404040"/>
                </a:solidFill>
                <a:latin typeface="Calibri Light"/>
                <a:ea typeface="Calibri Light"/>
                <a:cs typeface="Gothic Uralic"/>
              </a:rPr>
              <a:t>How will today’s session influence your future practice?</a:t>
            </a:r>
          </a:p>
          <a:p>
            <a:pPr marL="626110" marR="5080" indent="-457200" algn="ctr">
              <a:lnSpc>
                <a:spcPct val="120000"/>
              </a:lnSpc>
              <a:buClr>
                <a:srgbClr val="00B0F0"/>
              </a:buClr>
              <a:buFont typeface="+mj-lt"/>
              <a:buAutoNum type="arabicPeriod"/>
              <a:tabLst>
                <a:tab pos="456565" algn="l"/>
              </a:tabLst>
            </a:pPr>
            <a:endParaRPr lang="en-GB" sz="7200" spc="-5" dirty="0">
              <a:solidFill>
                <a:srgbClr val="404040"/>
              </a:solidFill>
              <a:latin typeface="Gothic Uralic"/>
              <a:cs typeface="Gothic Uralic"/>
            </a:endParaRPr>
          </a:p>
        </p:txBody>
      </p:sp>
      <p:pic>
        <p:nvPicPr>
          <p:cNvPr id="4" name="Picture 2" descr="Crest of St Mary's University, Twickenham">
            <a:extLst>
              <a:ext uri="{FF2B5EF4-FFF2-40B4-BE49-F238E27FC236}">
                <a16:creationId xmlns:a16="http://schemas.microsoft.com/office/drawing/2014/main" id="{9007A58B-CF4C-4445-A923-8C51B6BDA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9429" y="89908"/>
            <a:ext cx="1810558" cy="907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114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019BD-5C5A-42E3-89DF-8F2F6C713F4D}"/>
              </a:ext>
            </a:extLst>
          </p:cNvPr>
          <p:cNvSpPr>
            <a:spLocks noGrp="1"/>
          </p:cNvSpPr>
          <p:nvPr>
            <p:ph type="title" idx="4294967295"/>
          </p:nvPr>
        </p:nvSpPr>
        <p:spPr>
          <a:xfrm>
            <a:off x="0" y="-241189"/>
            <a:ext cx="10058400" cy="836613"/>
          </a:xfrm>
        </p:spPr>
        <p:txBody>
          <a:bodyPr>
            <a:normAutofit/>
          </a:bodyPr>
          <a:lstStyle/>
          <a:p>
            <a:r>
              <a:rPr lang="en-GB" sz="2800" b="1" dirty="0"/>
              <a:t>References</a:t>
            </a:r>
            <a:r>
              <a:rPr lang="en-GB" sz="2800" dirty="0"/>
              <a:t> </a:t>
            </a:r>
          </a:p>
        </p:txBody>
      </p:sp>
      <p:sp>
        <p:nvSpPr>
          <p:cNvPr id="3" name="Content Placeholder 2">
            <a:extLst>
              <a:ext uri="{FF2B5EF4-FFF2-40B4-BE49-F238E27FC236}">
                <a16:creationId xmlns:a16="http://schemas.microsoft.com/office/drawing/2014/main" id="{88A06568-0907-4D7C-A87E-6AB2C655A8D0}"/>
              </a:ext>
            </a:extLst>
          </p:cNvPr>
          <p:cNvSpPr>
            <a:spLocks noGrp="1"/>
          </p:cNvSpPr>
          <p:nvPr>
            <p:ph idx="4294967295"/>
          </p:nvPr>
        </p:nvSpPr>
        <p:spPr>
          <a:xfrm>
            <a:off x="1" y="648585"/>
            <a:ext cx="12192000" cy="5613991"/>
          </a:xfrm>
        </p:spPr>
        <p:txBody>
          <a:bodyPr>
            <a:normAutofit fontScale="70000" lnSpcReduction="20000"/>
          </a:bodyPr>
          <a:lstStyle/>
          <a:p>
            <a:r>
              <a:rPr lang="en-GB" dirty="0"/>
              <a:t>Department for Education (2023) </a:t>
            </a:r>
            <a:r>
              <a:rPr lang="en-GB" i="1" dirty="0"/>
              <a:t>The Reading Framework. </a:t>
            </a:r>
            <a:r>
              <a:rPr lang="en-GB" dirty="0"/>
              <a:t>Available at: </a:t>
            </a:r>
            <a:r>
              <a:rPr lang="en-GB" dirty="0">
                <a:hlinkClick r:id="rId2"/>
              </a:rPr>
              <a:t>https://assets.publishing.service.gov.uk/government/uploads/system/uploads/attachment_data/file/1186732/The_reading_framework.pdf</a:t>
            </a:r>
            <a:r>
              <a:rPr lang="en-GB" dirty="0"/>
              <a:t> (Accessed: 28 November 23).</a:t>
            </a:r>
          </a:p>
          <a:p>
            <a:r>
              <a:rPr lang="en-GB" dirty="0"/>
              <a:t>Bourdieu, P. (1991) </a:t>
            </a:r>
            <a:r>
              <a:rPr lang="en-GB" i="1" dirty="0"/>
              <a:t>Language and Symbolic Power</a:t>
            </a:r>
            <a:r>
              <a:rPr lang="en-GB" dirty="0"/>
              <a:t>. Cambridge: Polity Press.</a:t>
            </a:r>
          </a:p>
          <a:p>
            <a:r>
              <a:rPr lang="en-GB" dirty="0"/>
              <a:t>Clark, J. (2014) ‘#6 Underground Discourse Marker Map’ [Twitter] 24 April. Available at: </a:t>
            </a:r>
            <a:r>
              <a:rPr lang="en-GB" dirty="0">
                <a:hlinkClick r:id="rId3"/>
              </a:rPr>
              <a:t>https://xpateducator.wordpress.com/2014/04/25/6-underground-discourse-markers-map/</a:t>
            </a:r>
            <a:endParaRPr lang="en-GB" dirty="0"/>
          </a:p>
          <a:p>
            <a:r>
              <a:rPr lang="en-GB" dirty="0"/>
              <a:t>Cushing, I. (2022) ‘Word rich or word poor? Deficit discourses, raciolinguistic ideologies and the resurgence of the ‘word gap’ in England’s education policy’, </a:t>
            </a:r>
            <a:r>
              <a:rPr lang="en-GB" i="1" dirty="0"/>
              <a:t>Critical Inquiry in Language Studies, </a:t>
            </a:r>
            <a:r>
              <a:rPr lang="en-GB" dirty="0" err="1"/>
              <a:t>Vol.ahead</a:t>
            </a:r>
            <a:r>
              <a:rPr lang="en-GB" dirty="0"/>
              <a:t>-of-print (ahead-of-print), pp.1-27.</a:t>
            </a:r>
          </a:p>
          <a:p>
            <a:r>
              <a:rPr lang="en-GB" dirty="0"/>
              <a:t>Education Endowment Foundation (2018) Improving Literacy in Secondary Schools Guidance Report. Available at: </a:t>
            </a:r>
            <a:r>
              <a:rPr lang="en-GB" dirty="0">
                <a:hlinkClick r:id="rId4"/>
              </a:rPr>
              <a:t>https://educationendowmentfoundation.org.uk/education-evidence/guidance-reports/literacy-ks3-ks4</a:t>
            </a:r>
            <a:r>
              <a:rPr lang="en-GB" dirty="0"/>
              <a:t> (Accessed: 28 November 23).</a:t>
            </a:r>
          </a:p>
          <a:p>
            <a:r>
              <a:rPr lang="en-GB" dirty="0"/>
              <a:t>Goddard, A., Keen, J., Shuttleworth, J., Green, D. (1991) </a:t>
            </a:r>
            <a:r>
              <a:rPr lang="en-GB" i="1" dirty="0"/>
              <a:t>English Language A level: The Starter Pack.</a:t>
            </a:r>
            <a:r>
              <a:rPr lang="en-GB" dirty="0"/>
              <a:t> London: Heinemann.</a:t>
            </a:r>
          </a:p>
          <a:p>
            <a:r>
              <a:rPr lang="en-GB" dirty="0" err="1"/>
              <a:t>Janks</a:t>
            </a:r>
            <a:r>
              <a:rPr lang="en-GB" dirty="0"/>
              <a:t>, H. (2004) ‘The Access Paradox</a:t>
            </a:r>
            <a:r>
              <a:rPr lang="en-GB" i="1" dirty="0"/>
              <a:t>’, English in Australia Number</a:t>
            </a:r>
            <a:r>
              <a:rPr lang="en-GB" dirty="0"/>
              <a:t> 139, pp.33- 42. </a:t>
            </a:r>
          </a:p>
          <a:p>
            <a:r>
              <a:rPr lang="en-GB" dirty="0" err="1"/>
              <a:t>Janks</a:t>
            </a:r>
            <a:r>
              <a:rPr lang="en-GB" dirty="0"/>
              <a:t>, H. (2013) ‘Critical literacy in teaching and research’, </a:t>
            </a:r>
            <a:r>
              <a:rPr lang="en-GB" i="1" dirty="0"/>
              <a:t>Education Enquiry,</a:t>
            </a:r>
            <a:r>
              <a:rPr lang="en-GB" dirty="0"/>
              <a:t> 4(10), pp.225-242.</a:t>
            </a:r>
          </a:p>
          <a:p>
            <a:r>
              <a:rPr lang="en-GB" dirty="0"/>
              <a:t>Luke, A. (1997) ‘Genres of Power: Literacy Education and the Production of Capital’, in R. </a:t>
            </a:r>
            <a:r>
              <a:rPr lang="en-GB" dirty="0" err="1"/>
              <a:t>Hasen</a:t>
            </a:r>
            <a:r>
              <a:rPr lang="en-GB" dirty="0"/>
              <a:t> and G. Williams (eds) </a:t>
            </a:r>
            <a:r>
              <a:rPr lang="en-GB" i="1" dirty="0"/>
              <a:t>Literacy in Society. </a:t>
            </a:r>
            <a:r>
              <a:rPr lang="en-GB" dirty="0"/>
              <a:t>London: Longman, pp.308-338.</a:t>
            </a:r>
          </a:p>
          <a:p>
            <a:r>
              <a:rPr lang="en-GB" dirty="0"/>
              <a:t>Machin, S., McNally, S., and </a:t>
            </a:r>
            <a:r>
              <a:rPr lang="en-GB" dirty="0" err="1"/>
              <a:t>Viarengo</a:t>
            </a:r>
            <a:r>
              <a:rPr lang="en-GB" dirty="0"/>
              <a:t>, M. (2018) Changing how literacy is taught: Evidence on synthetic phonics. </a:t>
            </a:r>
            <a:r>
              <a:rPr lang="en-GB" i="1" dirty="0"/>
              <a:t>American Economic Journal: Economic Policy</a:t>
            </a:r>
            <a:r>
              <a:rPr lang="en-GB" dirty="0"/>
              <a:t>, 10(2), pp.217-241. </a:t>
            </a:r>
          </a:p>
          <a:p>
            <a:r>
              <a:rPr lang="en-GB" dirty="0"/>
              <a:t>McEnery, T. (2006) </a:t>
            </a:r>
            <a:r>
              <a:rPr lang="en-GB" i="1" dirty="0"/>
              <a:t>Swearing in English: Bad Language, Purity and Power from 1586 to the Present</a:t>
            </a:r>
            <a:r>
              <a:rPr lang="en-GB" dirty="0"/>
              <a:t>. Routledge: London.</a:t>
            </a:r>
          </a:p>
          <a:p>
            <a:r>
              <a:rPr lang="en-GB" dirty="0"/>
              <a:t>Moss, G. (2021) Literacies and social practice: sociological perspectives on reading research, </a:t>
            </a:r>
            <a:r>
              <a:rPr lang="en-GB" i="1" dirty="0"/>
              <a:t>Education 3-13</a:t>
            </a:r>
            <a:r>
              <a:rPr lang="en-GB" dirty="0"/>
              <a:t>, 49(1), pp. 41-51.</a:t>
            </a:r>
            <a:endParaRPr lang="en-GB" u="sng" dirty="0"/>
          </a:p>
          <a:p>
            <a:r>
              <a:rPr lang="en-GB" dirty="0"/>
              <a:t>Wyse, D. and Bradbury, A., 2022. Reading wars or reading reconciliation? A critical examination of robust research evidence, curriculum policy and teachers’ practices for teaching phonics and reading. </a:t>
            </a:r>
            <a:r>
              <a:rPr lang="en-GB" i="1" dirty="0"/>
              <a:t>Review of education</a:t>
            </a:r>
            <a:r>
              <a:rPr lang="en-GB" dirty="0"/>
              <a:t>, 10 (1), e3314. </a:t>
            </a:r>
          </a:p>
          <a:p>
            <a:r>
              <a:rPr lang="en-GB" dirty="0"/>
              <a:t>Yandell, J. (2008) ‘Mind the gap: Investigating test literacy and classroom literacy’, </a:t>
            </a:r>
            <a:r>
              <a:rPr lang="en-GB" i="1" dirty="0"/>
              <a:t>English in Education</a:t>
            </a:r>
            <a:r>
              <a:rPr lang="en-GB" dirty="0"/>
              <a:t>, 42(1), pp.70-87.</a:t>
            </a:r>
          </a:p>
          <a:p>
            <a:endParaRPr lang="en-GB" dirty="0"/>
          </a:p>
          <a:p>
            <a:endParaRPr lang="en-GB" dirty="0"/>
          </a:p>
        </p:txBody>
      </p:sp>
    </p:spTree>
    <p:extLst>
      <p:ext uri="{BB962C8B-B14F-4D97-AF65-F5344CB8AC3E}">
        <p14:creationId xmlns:p14="http://schemas.microsoft.com/office/powerpoint/2010/main" val="412789822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645cca2-d98f-4f54-b4b7-72b84d1b74f3">
      <Terms xmlns="http://schemas.microsoft.com/office/infopath/2007/PartnerControls"/>
    </lcf76f155ced4ddcb4097134ff3c332f>
    <TaxCatchAll xmlns="e2a22902-1209-4343-a8f6-fcb376e98c0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4BED36A05E64946A7130782DCAE2A16" ma:contentTypeVersion="14" ma:contentTypeDescription="Create a new document." ma:contentTypeScope="" ma:versionID="146461270e3569f40224c2141c975ea0">
  <xsd:schema xmlns:xsd="http://www.w3.org/2001/XMLSchema" xmlns:xs="http://www.w3.org/2001/XMLSchema" xmlns:p="http://schemas.microsoft.com/office/2006/metadata/properties" xmlns:ns2="9645cca2-d98f-4f54-b4b7-72b84d1b74f3" xmlns:ns3="e2a22902-1209-4343-a8f6-fcb376e98c04" targetNamespace="http://schemas.microsoft.com/office/2006/metadata/properties" ma:root="true" ma:fieldsID="0b6c1d0c28e734c9b7623a4066527726" ns2:_="" ns3:_="">
    <xsd:import namespace="9645cca2-d98f-4f54-b4b7-72b84d1b74f3"/>
    <xsd:import namespace="e2a22902-1209-4343-a8f6-fcb376e98c0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45cca2-d98f-4f54-b4b7-72b84d1b74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ae5fb22-0559-4a01-99f6-a695058b864a"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a22902-1209-4343-a8f6-fcb376e98c0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36a6ca0-da93-478d-89e8-6d5c88a2e563}" ma:internalName="TaxCatchAll" ma:showField="CatchAllData" ma:web="e2a22902-1209-4343-a8f6-fcb376e98c0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7B4D23-51A4-4523-B51E-D1ADA4E8C240}">
  <ds:schemaRefs>
    <ds:schemaRef ds:uri="http://schemas.microsoft.com/sharepoint/v3/contenttype/forms"/>
  </ds:schemaRefs>
</ds:datastoreItem>
</file>

<file path=customXml/itemProps2.xml><?xml version="1.0" encoding="utf-8"?>
<ds:datastoreItem xmlns:ds="http://schemas.openxmlformats.org/officeDocument/2006/customXml" ds:itemID="{3E844788-9246-4326-B848-D229A8E2480D}">
  <ds:schemaRefs>
    <ds:schemaRef ds:uri="3c0365d2-0f3e-40ed-9cb9-5f17634587d9"/>
    <ds:schemaRef ds:uri="http://www.w3.org/XML/1998/namespace"/>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http://schemas.microsoft.com/office/2006/metadata/properties"/>
    <ds:schemaRef ds:uri="023b2bbe-1a17-4cf6-9f16-9c3eb5752256"/>
    <ds:schemaRef ds:uri="http://purl.org/dc/terms/"/>
    <ds:schemaRef ds:uri="http://purl.org/dc/elements/1.1/"/>
    <ds:schemaRef ds:uri="9645cca2-d98f-4f54-b4b7-72b84d1b74f3"/>
    <ds:schemaRef ds:uri="e2a22902-1209-4343-a8f6-fcb376e98c04"/>
  </ds:schemaRefs>
</ds:datastoreItem>
</file>

<file path=customXml/itemProps3.xml><?xml version="1.0" encoding="utf-8"?>
<ds:datastoreItem xmlns:ds="http://schemas.openxmlformats.org/officeDocument/2006/customXml" ds:itemID="{5FD32F05-5700-43C7-89DE-3DE6E2169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45cca2-d98f-4f54-b4b7-72b84d1b74f3"/>
    <ds:schemaRef ds:uri="e2a22902-1209-4343-a8f6-fcb376e98c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TM02900720[[fn=Integral]]</Template>
  <TotalTime>18312</TotalTime>
  <Words>1821</Words>
  <Application>Microsoft Office PowerPoint</Application>
  <PresentationFormat>Widescreen</PresentationFormat>
  <Paragraphs>124</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Gothic Uralic</vt:lpstr>
      <vt:lpstr>proxima-n-w01-reg</vt:lpstr>
      <vt:lpstr>Wingdings</vt:lpstr>
      <vt:lpstr>Retrospect</vt:lpstr>
      <vt:lpstr>Literacy and closing the reading gap</vt:lpstr>
      <vt:lpstr>Session Objectives</vt:lpstr>
      <vt:lpstr>Essential Readings</vt:lpstr>
      <vt:lpstr>Subject and Curriculum </vt:lpstr>
      <vt:lpstr>Considering our own language…</vt:lpstr>
      <vt:lpstr>PowerPoint Presentation</vt:lpstr>
      <vt:lpstr>PowerPoint Presentation</vt:lpstr>
      <vt:lpstr>PowerPoint Presentation</vt:lpstr>
      <vt:lpstr>Disciplinary Literacy</vt:lpstr>
      <vt:lpstr>A disciplinary literacy model (EEF, 2018) </vt:lpstr>
      <vt:lpstr>PowerPoint Presentation</vt:lpstr>
      <vt:lpstr> </vt:lpstr>
      <vt:lpstr>PowerPoint Presentation</vt:lpstr>
      <vt:lpstr>PowerPoint Presentation</vt:lpstr>
      <vt:lpstr>PowerPoint Presentation</vt:lpstr>
      <vt:lpstr>PowerPoint Presentation</vt:lpstr>
      <vt:lpstr>How have you experienced speaking and listening modelled and developed in your subject discipline</vt:lpstr>
      <vt:lpstr>Back-and-forth interactions with children…</vt:lpstr>
      <vt:lpstr>PowerPoint Presentation</vt:lpstr>
      <vt:lpstr>The simple view of reading</vt:lpstr>
      <vt:lpstr>PowerPoint Presentation</vt:lpstr>
      <vt:lpstr>Supporting readers: What could be done?</vt:lpstr>
      <vt:lpstr>PowerPoint Presentation</vt:lpstr>
      <vt:lpstr>  Reading 1: Machin, S., McNally, S., &amp; Viarengo, M. (2018) Changing how literacy is taught: Evidence on synthetic phonics. American Economic Journal: Economic Policy, 10(2), pp.217-241</vt:lpstr>
      <vt:lpstr>PowerPoint Presentation</vt:lpstr>
      <vt:lpstr>Problematising ‘gap’ discourses</vt:lpstr>
      <vt:lpstr>PowerPoint Presentation</vt:lpstr>
      <vt:lpstr>PowerPoint Presentation</vt:lpstr>
      <vt:lpstr>The access paradox </vt:lpstr>
      <vt:lpstr>PowerPoint Presentation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Safeguarding</dc:title>
  <dc:creator>Rowena O'Beirne</dc:creator>
  <cp:lastModifiedBy>Sunil Chugh</cp:lastModifiedBy>
  <cp:revision>220</cp:revision>
  <dcterms:created xsi:type="dcterms:W3CDTF">2021-03-02T15:33:24Z</dcterms:created>
  <dcterms:modified xsi:type="dcterms:W3CDTF">2026-01-08T10:20:25Z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0x010100D4BED36A05E64946A7130782DCAE2A16</vt:lpwstr>
  </property>
</Properties>
</file>